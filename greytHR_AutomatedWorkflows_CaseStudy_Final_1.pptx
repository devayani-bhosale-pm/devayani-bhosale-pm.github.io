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2" Type="http://schemas.openxmlformats.org/officeDocument/2006/relationships/tableStyles" Target="tableStyles.xml"/><Relationship Id="rId11" Type="http://schemas.openxmlformats.org/officeDocument/2006/relationships/viewProps" Target="viewProps.xml"/><Relationship Id="rId10" Type="http://schemas.openxmlformats.org/officeDocument/2006/relationships/presProps" Target="presProps.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7" Type="http://schemas.openxmlformats.org/officeDocument/2006/relationships/notesSlide" Target="../notesSlides/notesSlide5.xml"/><Relationship Id="rId6"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1.xml"/><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3560"/>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A7D8E"/>
          </a:solidFill>
          <a:ln w="12700">
            <a:solidFill>
              <a:srgbClr val="2A7D8E"/>
            </a:solidFill>
            <a:prstDash val="solid"/>
          </a:ln>
        </p:spPr>
      </p:sp>
      <p:pic>
        <p:nvPicPr>
          <p:cNvPr id="3" name="Image 0" descr="preencoded.png"/>
          <p:cNvPicPr>
            <a:picLocks noChangeAspect="1"/>
          </p:cNvPicPr>
          <p:nvPr/>
        </p:nvPicPr>
        <p:blipFill>
          <a:blip r:embed="rId1">
            <a:alphaModFix amt="80000"/>
          </a:blip>
          <a:stretch>
            <a:fillRect/>
          </a:stretch>
        </p:blipFill>
        <p:spPr>
          <a:xfrm>
            <a:off x="7223760" y="274320"/>
            <a:ext cx="1645920" cy="1645920"/>
          </a:xfrm>
          <a:prstGeom prst="rect">
            <a:avLst/>
          </a:prstGeom>
        </p:spPr>
      </p:pic>
      <p:sp>
        <p:nvSpPr>
          <p:cNvPr id="4" name="Text 1"/>
          <p:cNvSpPr/>
          <p:nvPr/>
        </p:nvSpPr>
        <p:spPr>
          <a:xfrm>
            <a:off x="457200" y="914400"/>
            <a:ext cx="6400800" cy="320040"/>
          </a:xfrm>
          <a:prstGeom prst="rect">
            <a:avLst/>
          </a:prstGeom>
          <a:noFill/>
        </p:spPr>
        <p:txBody>
          <a:bodyPr wrap="square" lIns="0" tIns="0" rIns="0" bIns="0" rtlCol="0" anchor="ctr"/>
          <a:lstStyle/>
          <a:p>
            <a:pPr marL="0" indent="0">
              <a:buNone/>
            </a:pPr>
            <a:r>
              <a:rPr lang="en-US" sz="1100" b="1" kern="0" spc="400" dirty="0">
                <a:solidFill>
                  <a:srgbClr val="2A7D8E"/>
                </a:solidFill>
                <a:latin typeface="Calibri" panose="020F0502020204030204" pitchFamily="34" charset="0"/>
                <a:ea typeface="Calibri" panose="020F0502020204030204" pitchFamily="34" charset="-122"/>
                <a:cs typeface="Calibri" panose="020F0502020204030204" pitchFamily="34" charset="-120"/>
              </a:rPr>
              <a:t>PRODUCT CASE STUDY</a:t>
            </a:r>
            <a:endParaRPr lang="en-US" sz="1100" dirty="0"/>
          </a:p>
        </p:txBody>
      </p:sp>
      <p:sp>
        <p:nvSpPr>
          <p:cNvPr id="5" name="Text 2"/>
          <p:cNvSpPr/>
          <p:nvPr/>
        </p:nvSpPr>
        <p:spPr>
          <a:xfrm>
            <a:off x="457200" y="1325880"/>
            <a:ext cx="7772400" cy="1005840"/>
          </a:xfrm>
          <a:prstGeom prst="rect">
            <a:avLst/>
          </a:prstGeom>
          <a:noFill/>
        </p:spPr>
        <p:txBody>
          <a:bodyPr wrap="square" lIns="0" tIns="0" rIns="0" bIns="0" rtlCol="0" anchor="ctr"/>
          <a:lstStyle/>
          <a:p>
            <a:pPr marL="0" indent="0">
              <a:buNone/>
            </a:pPr>
            <a:r>
              <a:rPr lang="en-US" sz="4600" b="1" dirty="0">
                <a:solidFill>
                  <a:srgbClr val="FFFFFF"/>
                </a:solidFill>
                <a:latin typeface="Calibri" panose="020F0502020204030204" pitchFamily="34" charset="0"/>
                <a:ea typeface="Calibri" panose="020F0502020204030204" pitchFamily="34" charset="-122"/>
                <a:cs typeface="Calibri" panose="020F0502020204030204" pitchFamily="34" charset="-120"/>
              </a:rPr>
              <a:t>Automated Workflows</a:t>
            </a:r>
            <a:endParaRPr lang="en-US" sz="4600" dirty="0"/>
          </a:p>
        </p:txBody>
      </p:sp>
      <p:sp>
        <p:nvSpPr>
          <p:cNvPr id="6" name="Text 3"/>
          <p:cNvSpPr/>
          <p:nvPr/>
        </p:nvSpPr>
        <p:spPr>
          <a:xfrm>
            <a:off x="457200" y="2423160"/>
            <a:ext cx="7772400" cy="777240"/>
          </a:xfrm>
          <a:prstGeom prst="rect">
            <a:avLst/>
          </a:prstGeom>
          <a:noFill/>
        </p:spPr>
        <p:txBody>
          <a:bodyPr wrap="square" lIns="0" tIns="0" rIns="0" bIns="0" rtlCol="0" anchor="ctr"/>
          <a:lstStyle/>
          <a:p>
            <a:pPr marL="0" indent="0">
              <a:buNone/>
            </a:pPr>
            <a:r>
              <a:rPr lang="en-US" sz="1500" dirty="0">
                <a:solidFill>
                  <a:srgbClr val="A8C4D8"/>
                </a:solidFill>
                <a:latin typeface="Calibri" panose="020F0502020204030204" pitchFamily="34" charset="0"/>
                <a:ea typeface="Calibri" panose="020F0502020204030204" pitchFamily="34" charset="-122"/>
                <a:cs typeface="Calibri" panose="020F0502020204030204" pitchFamily="34" charset="-120"/>
              </a:rPr>
              <a:t>How a single client request became a platform-wide</a:t>
            </a:r>
            <a:endParaRPr lang="en-US" sz="1500" dirty="0"/>
          </a:p>
          <a:p>
            <a:pPr marL="0" indent="0">
              <a:buNone/>
            </a:pPr>
            <a:r>
              <a:rPr lang="en-US" sz="1500" dirty="0">
                <a:solidFill>
                  <a:srgbClr val="A8C4D8"/>
                </a:solidFill>
                <a:latin typeface="Calibri" panose="020F0502020204030204" pitchFamily="34" charset="0"/>
                <a:ea typeface="Calibri" panose="020F0502020204030204" pitchFamily="34" charset="-122"/>
                <a:cs typeface="Calibri" panose="020F0502020204030204" pitchFamily="34" charset="-120"/>
              </a:rPr>
              <a:t>workflow engine serving businesses across the Middle East &amp; India</a:t>
            </a:r>
            <a:endParaRPr lang="en-US" sz="1500" dirty="0"/>
          </a:p>
        </p:txBody>
      </p:sp>
      <p:sp>
        <p:nvSpPr>
          <p:cNvPr id="7" name="Shape 4"/>
          <p:cNvSpPr/>
          <p:nvPr/>
        </p:nvSpPr>
        <p:spPr>
          <a:xfrm>
            <a:off x="457200" y="3401568"/>
            <a:ext cx="1993392" cy="310896"/>
          </a:xfrm>
          <a:prstGeom prst="rect">
            <a:avLst/>
          </a:prstGeom>
          <a:solidFill>
            <a:srgbClr val="1E3A5F"/>
          </a:solidFill>
          <a:ln w="12700">
            <a:solidFill>
              <a:srgbClr val="2A7D8E"/>
            </a:solidFill>
            <a:prstDash val="solid"/>
          </a:ln>
        </p:spPr>
      </p:sp>
      <p:sp>
        <p:nvSpPr>
          <p:cNvPr id="8" name="Text 5"/>
          <p:cNvSpPr/>
          <p:nvPr/>
        </p:nvSpPr>
        <p:spPr>
          <a:xfrm>
            <a:off x="457200" y="3401568"/>
            <a:ext cx="1993392" cy="310896"/>
          </a:xfrm>
          <a:prstGeom prst="rect">
            <a:avLst/>
          </a:prstGeom>
          <a:noFill/>
        </p:spPr>
        <p:txBody>
          <a:bodyPr wrap="square" lIns="0" tIns="0" rIns="0" bIns="0" rtlCol="0" anchor="ctr"/>
          <a:lstStyle/>
          <a:p>
            <a:pPr marL="0" indent="0" algn="ctr">
              <a:buNone/>
            </a:pPr>
            <a:r>
              <a:rPr lang="en-US" sz="950" dirty="0">
                <a:solidFill>
                  <a:srgbClr val="2A7D8E"/>
                </a:solidFill>
                <a:latin typeface="Calibri" panose="020F0502020204030204" pitchFamily="34" charset="0"/>
                <a:ea typeface="Calibri" panose="020F0502020204030204" pitchFamily="34" charset="-122"/>
                <a:cs typeface="Calibri" panose="020F0502020204030204" pitchFamily="34" charset="-120"/>
              </a:rPr>
              <a:t>Document Renewals</a:t>
            </a:r>
            <a:endParaRPr lang="en-US" sz="950" dirty="0"/>
          </a:p>
        </p:txBody>
      </p:sp>
      <p:sp>
        <p:nvSpPr>
          <p:cNvPr id="9" name="Shape 6"/>
          <p:cNvSpPr/>
          <p:nvPr/>
        </p:nvSpPr>
        <p:spPr>
          <a:xfrm>
            <a:off x="2615184" y="3401568"/>
            <a:ext cx="1993392" cy="310896"/>
          </a:xfrm>
          <a:prstGeom prst="rect">
            <a:avLst/>
          </a:prstGeom>
          <a:solidFill>
            <a:srgbClr val="1E3A5F"/>
          </a:solidFill>
          <a:ln w="12700">
            <a:solidFill>
              <a:srgbClr val="2A7D8E"/>
            </a:solidFill>
            <a:prstDash val="solid"/>
          </a:ln>
        </p:spPr>
      </p:sp>
      <p:sp>
        <p:nvSpPr>
          <p:cNvPr id="10" name="Text 7"/>
          <p:cNvSpPr/>
          <p:nvPr/>
        </p:nvSpPr>
        <p:spPr>
          <a:xfrm>
            <a:off x="2615184" y="3401568"/>
            <a:ext cx="1993392" cy="310896"/>
          </a:xfrm>
          <a:prstGeom prst="rect">
            <a:avLst/>
          </a:prstGeom>
          <a:noFill/>
        </p:spPr>
        <p:txBody>
          <a:bodyPr wrap="square" lIns="0" tIns="0" rIns="0" bIns="0" rtlCol="0" anchor="ctr"/>
          <a:lstStyle/>
          <a:p>
            <a:pPr marL="0" indent="0" algn="ctr">
              <a:buNone/>
            </a:pPr>
            <a:r>
              <a:rPr lang="en-US" sz="950" dirty="0">
                <a:solidFill>
                  <a:srgbClr val="2A7D8E"/>
                </a:solidFill>
                <a:latin typeface="Calibri" panose="020F0502020204030204" pitchFamily="34" charset="0"/>
                <a:ea typeface="Calibri" panose="020F0502020204030204" pitchFamily="34" charset="-122"/>
                <a:cs typeface="Calibri" panose="020F0502020204030204" pitchFamily="34" charset="-120"/>
              </a:rPr>
              <a:t>Multi-level Approvals</a:t>
            </a:r>
            <a:endParaRPr lang="en-US" sz="950" dirty="0"/>
          </a:p>
        </p:txBody>
      </p:sp>
      <p:sp>
        <p:nvSpPr>
          <p:cNvPr id="11" name="Shape 8"/>
          <p:cNvSpPr/>
          <p:nvPr/>
        </p:nvSpPr>
        <p:spPr>
          <a:xfrm>
            <a:off x="4773168" y="3401568"/>
            <a:ext cx="1993392" cy="310896"/>
          </a:xfrm>
          <a:prstGeom prst="rect">
            <a:avLst/>
          </a:prstGeom>
          <a:solidFill>
            <a:srgbClr val="1E3A5F"/>
          </a:solidFill>
          <a:ln w="12700">
            <a:solidFill>
              <a:srgbClr val="2A7D8E"/>
            </a:solidFill>
            <a:prstDash val="solid"/>
          </a:ln>
        </p:spPr>
      </p:sp>
      <p:sp>
        <p:nvSpPr>
          <p:cNvPr id="12" name="Text 9"/>
          <p:cNvSpPr/>
          <p:nvPr/>
        </p:nvSpPr>
        <p:spPr>
          <a:xfrm>
            <a:off x="4773168" y="3401568"/>
            <a:ext cx="1993392" cy="310896"/>
          </a:xfrm>
          <a:prstGeom prst="rect">
            <a:avLst/>
          </a:prstGeom>
          <a:noFill/>
        </p:spPr>
        <p:txBody>
          <a:bodyPr wrap="square" lIns="0" tIns="0" rIns="0" bIns="0" rtlCol="0" anchor="ctr"/>
          <a:lstStyle/>
          <a:p>
            <a:pPr marL="0" indent="0" algn="ctr">
              <a:buNone/>
            </a:pPr>
            <a:r>
              <a:rPr lang="en-US" sz="950" dirty="0">
                <a:solidFill>
                  <a:srgbClr val="2A7D8E"/>
                </a:solidFill>
                <a:latin typeface="Calibri" panose="020F0502020204030204" pitchFamily="34" charset="0"/>
                <a:ea typeface="Calibri" panose="020F0502020204030204" pitchFamily="34" charset="-122"/>
                <a:cs typeface="Calibri" panose="020F0502020204030204" pitchFamily="34" charset="-120"/>
              </a:rPr>
              <a:t>Auto HRMS Updates</a:t>
            </a:r>
            <a:endParaRPr lang="en-US" sz="950" dirty="0"/>
          </a:p>
        </p:txBody>
      </p:sp>
      <p:sp>
        <p:nvSpPr>
          <p:cNvPr id="13" name="Shape 10"/>
          <p:cNvSpPr/>
          <p:nvPr/>
        </p:nvSpPr>
        <p:spPr>
          <a:xfrm>
            <a:off x="6931152" y="3401568"/>
            <a:ext cx="1993392" cy="310896"/>
          </a:xfrm>
          <a:prstGeom prst="rect">
            <a:avLst/>
          </a:prstGeom>
          <a:solidFill>
            <a:srgbClr val="1E3A5F"/>
          </a:solidFill>
          <a:ln w="12700">
            <a:solidFill>
              <a:srgbClr val="2A7D8E"/>
            </a:solidFill>
            <a:prstDash val="solid"/>
          </a:ln>
        </p:spPr>
      </p:sp>
      <p:sp>
        <p:nvSpPr>
          <p:cNvPr id="14" name="Text 11"/>
          <p:cNvSpPr/>
          <p:nvPr/>
        </p:nvSpPr>
        <p:spPr>
          <a:xfrm>
            <a:off x="6931152" y="3401568"/>
            <a:ext cx="1993392" cy="310896"/>
          </a:xfrm>
          <a:prstGeom prst="rect">
            <a:avLst/>
          </a:prstGeom>
          <a:noFill/>
        </p:spPr>
        <p:txBody>
          <a:bodyPr wrap="square" lIns="0" tIns="0" rIns="0" bIns="0" rtlCol="0" anchor="ctr"/>
          <a:lstStyle/>
          <a:p>
            <a:pPr marL="0" indent="0" algn="ctr">
              <a:buNone/>
            </a:pPr>
            <a:r>
              <a:rPr lang="en-US" sz="950" dirty="0">
                <a:solidFill>
                  <a:srgbClr val="2A7D8E"/>
                </a:solidFill>
                <a:latin typeface="Calibri" panose="020F0502020204030204" pitchFamily="34" charset="0"/>
                <a:ea typeface="Calibri" panose="020F0502020204030204" pitchFamily="34" charset="-122"/>
                <a:cs typeface="Calibri" panose="020F0502020204030204" pitchFamily="34" charset="-120"/>
              </a:rPr>
              <a:t>Tiered Subscription Model</a:t>
            </a:r>
            <a:endParaRPr lang="en-US" sz="950" dirty="0"/>
          </a:p>
        </p:txBody>
      </p:sp>
      <p:sp>
        <p:nvSpPr>
          <p:cNvPr id="15" name="Shape 12"/>
          <p:cNvSpPr/>
          <p:nvPr/>
        </p:nvSpPr>
        <p:spPr>
          <a:xfrm>
            <a:off x="457200" y="4114800"/>
            <a:ext cx="8229600" cy="914"/>
          </a:xfrm>
          <a:prstGeom prst="rect">
            <a:avLst/>
          </a:prstGeom>
          <a:solidFill>
            <a:srgbClr val="2A7D8E"/>
          </a:solidFill>
          <a:ln w="12700">
            <a:solidFill>
              <a:srgbClr val="2A7D8E"/>
            </a:solidFill>
            <a:prstDash val="solid"/>
          </a:ln>
        </p:spPr>
      </p:sp>
      <p:sp>
        <p:nvSpPr>
          <p:cNvPr id="16" name="Text 13"/>
          <p:cNvSpPr/>
          <p:nvPr/>
        </p:nvSpPr>
        <p:spPr>
          <a:xfrm>
            <a:off x="457200" y="4224528"/>
            <a:ext cx="8229600" cy="292608"/>
          </a:xfrm>
          <a:prstGeom prst="rect">
            <a:avLst/>
          </a:prstGeom>
          <a:noFill/>
        </p:spPr>
        <p:txBody>
          <a:bodyPr wrap="square" lIns="0" tIns="0" rIns="0" bIns="0" rtlCol="0" anchor="ctr"/>
          <a:lstStyle/>
          <a:p>
            <a:pPr marL="0" indent="0">
              <a:buNone/>
            </a:pPr>
            <a:r>
              <a:rPr lang="en-US" sz="1000" dirty="0">
                <a:solidFill>
                  <a:srgbClr val="7FA8C4"/>
                </a:solidFill>
                <a:latin typeface="Calibri" panose="020F0502020204030204" pitchFamily="34" charset="0"/>
                <a:ea typeface="Calibri" panose="020F0502020204030204" pitchFamily="34" charset="-122"/>
                <a:cs typeface="Calibri" panose="020F0502020204030204" pitchFamily="34" charset="-120"/>
              </a:rPr>
              <a:t>Devayani Bhosale  ·  Product Manager  ·  Greytip Software (greytHR)  ·  2022–2024</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B3560"/>
          </a:solidFill>
          <a:ln w="12700">
            <a:solidFill>
              <a:srgbClr val="1B3560"/>
            </a:solidFill>
            <a:prstDash val="solid"/>
          </a:ln>
        </p:spPr>
      </p:sp>
      <p:sp>
        <p:nvSpPr>
          <p:cNvPr id="3" name="Shape 1"/>
          <p:cNvSpPr/>
          <p:nvPr/>
        </p:nvSpPr>
        <p:spPr>
          <a:xfrm>
            <a:off x="274320" y="201168"/>
            <a:ext cx="457200" cy="256032"/>
          </a:xfrm>
          <a:prstGeom prst="rect">
            <a:avLst/>
          </a:prstGeom>
          <a:solidFill>
            <a:srgbClr val="2A7D8E"/>
          </a:solidFill>
          <a:ln w="12700">
            <a:solidFill>
              <a:srgbClr val="2A7D8E"/>
            </a:solidFill>
            <a:prstDash val="solid"/>
          </a:ln>
        </p:spPr>
      </p:sp>
      <p:sp>
        <p:nvSpPr>
          <p:cNvPr id="4" name="Text 2"/>
          <p:cNvSpPr/>
          <p:nvPr/>
        </p:nvSpPr>
        <p:spPr>
          <a:xfrm>
            <a:off x="274320" y="201168"/>
            <a:ext cx="457200" cy="256032"/>
          </a:xfrm>
          <a:prstGeom prst="rect">
            <a:avLst/>
          </a:prstGeom>
          <a:noFill/>
        </p:spPr>
        <p:txBody>
          <a:bodyPr wrap="square" lIns="0" tIns="0" rIns="0" bIns="0" rtlCol="0" anchor="ct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02</a:t>
            </a:r>
            <a:endParaRPr lang="en-US" sz="1000" dirty="0"/>
          </a:p>
        </p:txBody>
      </p:sp>
      <p:sp>
        <p:nvSpPr>
          <p:cNvPr id="5" name="Text 3"/>
          <p:cNvSpPr/>
          <p:nvPr/>
        </p:nvSpPr>
        <p:spPr>
          <a:xfrm>
            <a:off x="868680" y="164592"/>
            <a:ext cx="5486400" cy="347472"/>
          </a:xfrm>
          <a:prstGeom prst="rect">
            <a:avLst/>
          </a:prstGeom>
          <a:noFill/>
        </p:spPr>
        <p:txBody>
          <a:bodyPr wrap="square" lIns="0" tIns="0" rIns="0" bIns="0" rtlCol="0" anchor="ctr"/>
          <a:lstStyle/>
          <a:p>
            <a:pPr marL="0" indent="0">
              <a:buNone/>
            </a:pPr>
            <a:r>
              <a:rPr lang="en-US" sz="2200" b="1" dirty="0">
                <a:solidFill>
                  <a:srgbClr val="1B3560"/>
                </a:solidFill>
                <a:latin typeface="Calibri" panose="020F0502020204030204" pitchFamily="34" charset="0"/>
                <a:ea typeface="Calibri" panose="020F0502020204030204" pitchFamily="34" charset="-122"/>
                <a:cs typeface="Calibri" panose="020F0502020204030204" pitchFamily="34" charset="-120"/>
              </a:rPr>
              <a:t>The Problem</a:t>
            </a:r>
            <a:endParaRPr lang="en-US" sz="2200" dirty="0"/>
          </a:p>
        </p:txBody>
      </p:sp>
      <p:sp>
        <p:nvSpPr>
          <p:cNvPr id="6" name="Shape 4"/>
          <p:cNvSpPr/>
          <p:nvPr/>
        </p:nvSpPr>
        <p:spPr>
          <a:xfrm>
            <a:off x="274320" y="658368"/>
            <a:ext cx="3931920" cy="4224528"/>
          </a:xfrm>
          <a:prstGeom prst="rect">
            <a:avLst/>
          </a:prstGeom>
          <a:solidFill>
            <a:srgbClr val="1B3560"/>
          </a:solidFill>
          <a:ln w="12700">
            <a:solidFill>
              <a:srgbClr val="1B3560"/>
            </a:solidFill>
            <a:prstDash val="solid"/>
          </a:ln>
        </p:spPr>
      </p:sp>
      <p:sp>
        <p:nvSpPr>
          <p:cNvPr id="7" name="Text 5"/>
          <p:cNvSpPr/>
          <p:nvPr/>
        </p:nvSpPr>
        <p:spPr>
          <a:xfrm>
            <a:off x="457200" y="804672"/>
            <a:ext cx="1371600" cy="256032"/>
          </a:xfrm>
          <a:prstGeom prst="rect">
            <a:avLst/>
          </a:prstGeom>
          <a:noFill/>
        </p:spPr>
        <p:txBody>
          <a:bodyPr wrap="square" lIns="0" tIns="0" rIns="0" bIns="0" rtlCol="0" anchor="ctr"/>
          <a:lstStyle/>
          <a:p>
            <a:pPr marL="0" indent="0">
              <a:buNone/>
            </a:pPr>
            <a:r>
              <a:rPr lang="en-US" sz="900" b="1" kern="0" spc="300" dirty="0">
                <a:solidFill>
                  <a:srgbClr val="2A7D8E"/>
                </a:solidFill>
                <a:latin typeface="Calibri" panose="020F0502020204030204" pitchFamily="34" charset="0"/>
                <a:ea typeface="Calibri" panose="020F0502020204030204" pitchFamily="34" charset="-122"/>
                <a:cs typeface="Calibri" panose="020F0502020204030204" pitchFamily="34" charset="-120"/>
              </a:rPr>
              <a:t>ORIGIN</a:t>
            </a:r>
            <a:endParaRPr lang="en-US" sz="900" dirty="0"/>
          </a:p>
        </p:txBody>
      </p:sp>
      <p:sp>
        <p:nvSpPr>
          <p:cNvPr id="8" name="Text 6"/>
          <p:cNvSpPr/>
          <p:nvPr/>
        </p:nvSpPr>
        <p:spPr>
          <a:xfrm>
            <a:off x="457200" y="1078992"/>
            <a:ext cx="3566160" cy="594360"/>
          </a:xfrm>
          <a:prstGeom prst="rect">
            <a:avLst/>
          </a:prstGeom>
          <a:noFill/>
        </p:spPr>
        <p:txBody>
          <a:bodyPr wrap="square" lIns="0" tIns="0" rIns="0" bIns="0" rtlCol="0" anchor="ctr"/>
          <a:lstStyle/>
          <a:p>
            <a:pPr marL="0" indent="0">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A Middle East client request</a:t>
            </a:r>
            <a:endParaRPr lang="en-US" sz="1400" dirty="0"/>
          </a:p>
          <a:p>
            <a:pPr marL="0" indent="0">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that revealed a platform-wide gap</a:t>
            </a:r>
            <a:endParaRPr lang="en-US" sz="1400" dirty="0"/>
          </a:p>
        </p:txBody>
      </p:sp>
      <p:sp>
        <p:nvSpPr>
          <p:cNvPr id="9" name="Text 7"/>
          <p:cNvSpPr/>
          <p:nvPr/>
        </p:nvSpPr>
        <p:spPr>
          <a:xfrm>
            <a:off x="457200" y="1783080"/>
            <a:ext cx="3566160" cy="2377440"/>
          </a:xfrm>
          <a:prstGeom prst="rect">
            <a:avLst/>
          </a:prstGeom>
          <a:noFill/>
        </p:spPr>
        <p:txBody>
          <a:bodyPr wrap="square" lIns="0" tIns="0" rIns="0" bIns="0" rtlCol="0" anchor="ctr"/>
          <a:lstStyle/>
          <a:p>
            <a:pPr marL="0" indent="0">
              <a:buNone/>
            </a:pPr>
            <a:r>
              <a:rPr lang="en-US" sz="1100" dirty="0">
                <a:solidFill>
                  <a:srgbClr val="B8D0E8"/>
                </a:solidFill>
                <a:latin typeface="Calibri" panose="020F0502020204030204" pitchFamily="34" charset="0"/>
                <a:ea typeface="Calibri" panose="020F0502020204030204" pitchFamily="34" charset="-122"/>
                <a:cs typeface="Calibri" panose="020F0502020204030204" pitchFamily="34" charset="-120"/>
              </a:rPr>
              <a:t>A client in the Middle East was managing employee visa, passport, and work authorization renewals manually in Excel resulting in missing deadlines, manual follow ups, and updating greytHR records manually after each renewal cycle.</a:t>
            </a:r>
            <a:endParaRPr lang="en-US" sz="1100" dirty="0"/>
          </a:p>
          <a:p>
            <a:pPr marL="0" indent="0">
              <a:buNone/>
            </a:pPr>
            <a:endParaRPr lang="en-US" sz="1100" dirty="0"/>
          </a:p>
          <a:p>
            <a:pPr marL="0" indent="0">
              <a:buNone/>
            </a:pPr>
            <a:r>
              <a:rPr lang="en-US" sz="1100" dirty="0">
                <a:solidFill>
                  <a:srgbClr val="B8D0E8"/>
                </a:solidFill>
                <a:latin typeface="Calibri" panose="020F0502020204030204" pitchFamily="34" charset="0"/>
                <a:ea typeface="Calibri" panose="020F0502020204030204" pitchFamily="34" charset="-122"/>
                <a:cs typeface="Calibri" panose="020F0502020204030204" pitchFamily="34" charset="-120"/>
              </a:rPr>
              <a:t>They asked for an "Excel-like table" inside greytHR.</a:t>
            </a:r>
            <a:endParaRPr lang="en-US" sz="1100" dirty="0"/>
          </a:p>
          <a:p>
            <a:pPr marL="0" indent="0">
              <a:buNone/>
            </a:pPr>
            <a:endParaRPr lang="en-US" sz="1100" dirty="0"/>
          </a:p>
          <a:p>
            <a:pPr marL="0" indent="0">
              <a:buNone/>
            </a:pPr>
            <a:r>
              <a:rPr lang="en-US" sz="1100" dirty="0">
                <a:solidFill>
                  <a:srgbClr val="B8D0E8"/>
                </a:solidFill>
                <a:latin typeface="Calibri" panose="020F0502020204030204" pitchFamily="34" charset="0"/>
                <a:ea typeface="Calibri" panose="020F0502020204030204" pitchFamily="34" charset="-122"/>
                <a:cs typeface="Calibri" panose="020F0502020204030204" pitchFamily="34" charset="-120"/>
              </a:rPr>
              <a:t>After a direct client call, it became clear: they didn’t need a table. They needed an end-to-end automated workflow.</a:t>
            </a:r>
            <a:endParaRPr lang="en-US" sz="1100" dirty="0"/>
          </a:p>
        </p:txBody>
      </p:sp>
      <p:pic>
        <p:nvPicPr>
          <p:cNvPr id="10" name="Image 0" descr="preencoded.png"/>
          <p:cNvPicPr>
            <a:picLocks noChangeAspect="1"/>
          </p:cNvPicPr>
          <p:nvPr/>
        </p:nvPicPr>
        <p:blipFill>
          <a:blip r:embed="rId1"/>
          <a:stretch>
            <a:fillRect/>
          </a:stretch>
        </p:blipFill>
        <p:spPr>
          <a:xfrm>
            <a:off x="457200" y="4224528"/>
            <a:ext cx="310896" cy="310896"/>
          </a:xfrm>
          <a:prstGeom prst="rect">
            <a:avLst/>
          </a:prstGeom>
        </p:spPr>
      </p:pic>
      <p:sp>
        <p:nvSpPr>
          <p:cNvPr id="11" name="Text 8"/>
          <p:cNvSpPr/>
          <p:nvPr/>
        </p:nvSpPr>
        <p:spPr>
          <a:xfrm>
            <a:off x="841248" y="4261104"/>
            <a:ext cx="3200400" cy="292608"/>
          </a:xfrm>
          <a:prstGeom prst="rect">
            <a:avLst/>
          </a:prstGeom>
          <a:noFill/>
        </p:spPr>
        <p:txBody>
          <a:bodyPr wrap="square" lIns="0" tIns="0" rIns="0" bIns="0" rtlCol="0" anchor="ctr"/>
          <a:lstStyle/>
          <a:p>
            <a:pPr marL="0" indent="0">
              <a:buNone/>
            </a:pPr>
            <a:r>
              <a:rPr lang="en-US" sz="950" i="1" dirty="0">
                <a:solidFill>
                  <a:srgbClr val="2A7D8E"/>
                </a:solidFill>
                <a:latin typeface="Calibri" panose="020F0502020204030204" pitchFamily="34" charset="0"/>
                <a:ea typeface="Calibri" panose="020F0502020204030204" pitchFamily="34" charset="-122"/>
                <a:cs typeface="Calibri" panose="020F0502020204030204" pitchFamily="34" charset="-120"/>
              </a:rPr>
              <a:t>Insight: Reframed solution request into the real underlying problem</a:t>
            </a:r>
            <a:endParaRPr lang="en-US" sz="950" dirty="0"/>
          </a:p>
        </p:txBody>
      </p:sp>
      <p:sp>
        <p:nvSpPr>
          <p:cNvPr id="12" name="Shape 9"/>
          <p:cNvSpPr/>
          <p:nvPr/>
        </p:nvSpPr>
        <p:spPr>
          <a:xfrm>
            <a:off x="4370832" y="658368"/>
            <a:ext cx="4572000" cy="987552"/>
          </a:xfrm>
          <a:prstGeom prst="rect">
            <a:avLst/>
          </a:prstGeom>
          <a:solidFill>
            <a:srgbClr val="FFFFFF"/>
          </a:solidFill>
          <a:ln w="12700">
            <a:solidFill>
              <a:srgbClr val="EEF2F7"/>
            </a:solidFill>
            <a:prstDash val="solid"/>
          </a:ln>
          <a:effectLst>
            <a:outerShdw blurRad="76200" dist="25400" dir="8100000" algn="bl" rotWithShape="0">
              <a:srgbClr val="000000">
                <a:alpha val="10000"/>
              </a:srgbClr>
            </a:outerShdw>
          </a:effectLst>
        </p:spPr>
      </p:sp>
      <p:sp>
        <p:nvSpPr>
          <p:cNvPr id="13" name="Shape 10"/>
          <p:cNvSpPr/>
          <p:nvPr/>
        </p:nvSpPr>
        <p:spPr>
          <a:xfrm>
            <a:off x="4370832" y="658368"/>
            <a:ext cx="54864" cy="987552"/>
          </a:xfrm>
          <a:prstGeom prst="rect">
            <a:avLst/>
          </a:prstGeom>
          <a:solidFill>
            <a:srgbClr val="D97706"/>
          </a:solidFill>
          <a:ln w="12700">
            <a:solidFill>
              <a:srgbClr val="D97706"/>
            </a:solidFill>
            <a:prstDash val="solid"/>
          </a:ln>
        </p:spPr>
      </p:sp>
      <p:pic>
        <p:nvPicPr>
          <p:cNvPr id="14" name="Image 1" descr="preencoded.png"/>
          <p:cNvPicPr>
            <a:picLocks noChangeAspect="1"/>
          </p:cNvPicPr>
          <p:nvPr/>
        </p:nvPicPr>
        <p:blipFill>
          <a:blip r:embed="rId2"/>
          <a:stretch>
            <a:fillRect/>
          </a:stretch>
        </p:blipFill>
        <p:spPr>
          <a:xfrm>
            <a:off x="4498848" y="768096"/>
            <a:ext cx="292608" cy="292608"/>
          </a:xfrm>
          <a:prstGeom prst="rect">
            <a:avLst/>
          </a:prstGeom>
        </p:spPr>
      </p:pic>
      <p:sp>
        <p:nvSpPr>
          <p:cNvPr id="15" name="Text 11"/>
          <p:cNvSpPr/>
          <p:nvPr/>
        </p:nvSpPr>
        <p:spPr>
          <a:xfrm>
            <a:off x="4864608" y="749808"/>
            <a:ext cx="3931920" cy="274320"/>
          </a:xfrm>
          <a:prstGeom prst="rect">
            <a:avLst/>
          </a:prstGeom>
          <a:noFill/>
        </p:spPr>
        <p:txBody>
          <a:bodyPr wrap="square" lIns="0" tIns="0" rIns="0" bIns="0" rtlCol="0" anchor="ctr"/>
          <a:lstStyle/>
          <a:p>
            <a:pPr marL="0" indent="0">
              <a:buNone/>
            </a:pPr>
            <a:r>
              <a:rPr lang="en-US" sz="1200" b="1" dirty="0">
                <a:solidFill>
                  <a:srgbClr val="1B3560"/>
                </a:solidFill>
                <a:latin typeface="Calibri" panose="020F0502020204030204" pitchFamily="34" charset="0"/>
                <a:ea typeface="Calibri" panose="020F0502020204030204" pitchFamily="34" charset="-122"/>
                <a:cs typeface="Calibri" panose="020F0502020204030204" pitchFamily="34" charset="-120"/>
              </a:rPr>
              <a:t>Missed Renewal Deadlines</a:t>
            </a:r>
            <a:endParaRPr lang="en-US" sz="1200" dirty="0"/>
          </a:p>
        </p:txBody>
      </p:sp>
      <p:sp>
        <p:nvSpPr>
          <p:cNvPr id="16" name="Text 12"/>
          <p:cNvSpPr/>
          <p:nvPr/>
        </p:nvSpPr>
        <p:spPr>
          <a:xfrm>
            <a:off x="4864608" y="1060704"/>
            <a:ext cx="3931920" cy="502920"/>
          </a:xfrm>
          <a:prstGeom prst="rect">
            <a:avLst/>
          </a:prstGeom>
          <a:noFill/>
        </p:spPr>
        <p:txBody>
          <a:bodyPr wrap="square" lIns="0" tIns="0" rIns="0" bIns="0" rtlCol="0" anchor="ctr"/>
          <a:lstStyle/>
          <a:p>
            <a:pPr marL="0" indent="0">
              <a:buNone/>
            </a:pPr>
            <a:r>
              <a:rPr lang="en-US" sz="1050" dirty="0">
                <a:solidFill>
                  <a:srgbClr val="64748B"/>
                </a:solidFill>
                <a:latin typeface="Calibri" panose="020F0502020204030204" pitchFamily="34" charset="0"/>
                <a:ea typeface="Calibri" panose="020F0502020204030204" pitchFamily="34" charset="-122"/>
                <a:cs typeface="Calibri" panose="020F0502020204030204" pitchFamily="34" charset="-120"/>
              </a:rPr>
              <a:t>Manual Excel tracking caused delays in visa and passport renewals, putting employees' work eligibility and payroll at risk.</a:t>
            </a:r>
            <a:endParaRPr lang="en-US" sz="1050" dirty="0"/>
          </a:p>
        </p:txBody>
      </p:sp>
      <p:sp>
        <p:nvSpPr>
          <p:cNvPr id="17" name="Shape 13"/>
          <p:cNvSpPr/>
          <p:nvPr/>
        </p:nvSpPr>
        <p:spPr>
          <a:xfrm>
            <a:off x="4370832" y="1719072"/>
            <a:ext cx="4572000" cy="987552"/>
          </a:xfrm>
          <a:prstGeom prst="rect">
            <a:avLst/>
          </a:prstGeom>
          <a:solidFill>
            <a:srgbClr val="FFFFFF"/>
          </a:solidFill>
          <a:ln w="12700">
            <a:solidFill>
              <a:srgbClr val="EEF2F7"/>
            </a:solidFill>
            <a:prstDash val="solid"/>
          </a:ln>
          <a:effectLst>
            <a:outerShdw blurRad="76200" dist="25400" dir="8100000" algn="bl" rotWithShape="0">
              <a:srgbClr val="000000">
                <a:alpha val="10000"/>
              </a:srgbClr>
            </a:outerShdw>
          </a:effectLst>
        </p:spPr>
      </p:sp>
      <p:sp>
        <p:nvSpPr>
          <p:cNvPr id="18" name="Shape 14"/>
          <p:cNvSpPr/>
          <p:nvPr/>
        </p:nvSpPr>
        <p:spPr>
          <a:xfrm>
            <a:off x="4370832" y="1719072"/>
            <a:ext cx="54864" cy="987552"/>
          </a:xfrm>
          <a:prstGeom prst="rect">
            <a:avLst/>
          </a:prstGeom>
          <a:solidFill>
            <a:srgbClr val="D97706"/>
          </a:solidFill>
          <a:ln w="12700">
            <a:solidFill>
              <a:srgbClr val="D97706"/>
            </a:solidFill>
            <a:prstDash val="solid"/>
          </a:ln>
        </p:spPr>
      </p:sp>
      <p:pic>
        <p:nvPicPr>
          <p:cNvPr id="19" name="Image 2" descr="preencoded.png"/>
          <p:cNvPicPr>
            <a:picLocks noChangeAspect="1"/>
          </p:cNvPicPr>
          <p:nvPr/>
        </p:nvPicPr>
        <p:blipFill>
          <a:blip r:embed="rId2"/>
          <a:stretch>
            <a:fillRect/>
          </a:stretch>
        </p:blipFill>
        <p:spPr>
          <a:xfrm>
            <a:off x="4498848" y="1828800"/>
            <a:ext cx="292608" cy="292608"/>
          </a:xfrm>
          <a:prstGeom prst="rect">
            <a:avLst/>
          </a:prstGeom>
        </p:spPr>
      </p:pic>
      <p:sp>
        <p:nvSpPr>
          <p:cNvPr id="20" name="Text 15"/>
          <p:cNvSpPr/>
          <p:nvPr/>
        </p:nvSpPr>
        <p:spPr>
          <a:xfrm>
            <a:off x="4864608" y="1810512"/>
            <a:ext cx="3931920" cy="274320"/>
          </a:xfrm>
          <a:prstGeom prst="rect">
            <a:avLst/>
          </a:prstGeom>
          <a:noFill/>
        </p:spPr>
        <p:txBody>
          <a:bodyPr wrap="square" lIns="0" tIns="0" rIns="0" bIns="0" rtlCol="0" anchor="ctr"/>
          <a:lstStyle/>
          <a:p>
            <a:pPr marL="0" indent="0">
              <a:buNone/>
            </a:pPr>
            <a:r>
              <a:rPr lang="en-US" sz="1200" b="1" dirty="0">
                <a:solidFill>
                  <a:srgbClr val="1B3560"/>
                </a:solidFill>
                <a:latin typeface="Calibri" panose="020F0502020204030204" pitchFamily="34" charset="0"/>
                <a:ea typeface="Calibri" panose="020F0502020204030204" pitchFamily="34" charset="-122"/>
                <a:cs typeface="Calibri" panose="020F0502020204030204" pitchFamily="34" charset="-120"/>
              </a:rPr>
              <a:t>Multi-level Approvals via Email</a:t>
            </a:r>
            <a:endParaRPr lang="en-US" sz="1200" dirty="0"/>
          </a:p>
        </p:txBody>
      </p:sp>
      <p:sp>
        <p:nvSpPr>
          <p:cNvPr id="21" name="Text 16"/>
          <p:cNvSpPr/>
          <p:nvPr/>
        </p:nvSpPr>
        <p:spPr>
          <a:xfrm>
            <a:off x="4864608" y="2121408"/>
            <a:ext cx="3931920" cy="502920"/>
          </a:xfrm>
          <a:prstGeom prst="rect">
            <a:avLst/>
          </a:prstGeom>
          <a:noFill/>
        </p:spPr>
        <p:txBody>
          <a:bodyPr wrap="square" lIns="0" tIns="0" rIns="0" bIns="0" rtlCol="0" anchor="ctr"/>
          <a:lstStyle/>
          <a:p>
            <a:pPr marL="0" indent="0">
              <a:buNone/>
            </a:pPr>
            <a:r>
              <a:rPr lang="en-US" sz="1050" dirty="0">
                <a:solidFill>
                  <a:srgbClr val="64748B"/>
                </a:solidFill>
                <a:latin typeface="Calibri" panose="020F0502020204030204" pitchFamily="34" charset="0"/>
                <a:ea typeface="Calibri" panose="020F0502020204030204" pitchFamily="34" charset="-122"/>
                <a:cs typeface="Calibri" panose="020F0502020204030204" pitchFamily="34" charset="-120"/>
              </a:rPr>
              <a:t>Collecting approvals and documents from multiple stakeholders — including third parties — was manual, slow, untracked, and error-prone.</a:t>
            </a:r>
            <a:endParaRPr lang="en-US" sz="1050" dirty="0"/>
          </a:p>
        </p:txBody>
      </p:sp>
      <p:sp>
        <p:nvSpPr>
          <p:cNvPr id="22" name="Shape 17"/>
          <p:cNvSpPr/>
          <p:nvPr/>
        </p:nvSpPr>
        <p:spPr>
          <a:xfrm>
            <a:off x="4370832" y="2779776"/>
            <a:ext cx="4572000" cy="987552"/>
          </a:xfrm>
          <a:prstGeom prst="rect">
            <a:avLst/>
          </a:prstGeom>
          <a:solidFill>
            <a:srgbClr val="FFFFFF"/>
          </a:solidFill>
          <a:ln w="12700">
            <a:solidFill>
              <a:srgbClr val="EEF2F7"/>
            </a:solidFill>
            <a:prstDash val="solid"/>
          </a:ln>
          <a:effectLst>
            <a:outerShdw blurRad="76200" dist="25400" dir="8100000" algn="bl" rotWithShape="0">
              <a:srgbClr val="000000">
                <a:alpha val="10000"/>
              </a:srgbClr>
            </a:outerShdw>
          </a:effectLst>
        </p:spPr>
      </p:sp>
      <p:sp>
        <p:nvSpPr>
          <p:cNvPr id="23" name="Shape 18"/>
          <p:cNvSpPr/>
          <p:nvPr/>
        </p:nvSpPr>
        <p:spPr>
          <a:xfrm>
            <a:off x="4370832" y="2779776"/>
            <a:ext cx="54864" cy="987552"/>
          </a:xfrm>
          <a:prstGeom prst="rect">
            <a:avLst/>
          </a:prstGeom>
          <a:solidFill>
            <a:srgbClr val="D97706"/>
          </a:solidFill>
          <a:ln w="12700">
            <a:solidFill>
              <a:srgbClr val="D97706"/>
            </a:solidFill>
            <a:prstDash val="solid"/>
          </a:ln>
        </p:spPr>
      </p:sp>
      <p:pic>
        <p:nvPicPr>
          <p:cNvPr id="24" name="Image 3" descr="preencoded.png"/>
          <p:cNvPicPr>
            <a:picLocks noChangeAspect="1"/>
          </p:cNvPicPr>
          <p:nvPr/>
        </p:nvPicPr>
        <p:blipFill>
          <a:blip r:embed="rId2"/>
          <a:stretch>
            <a:fillRect/>
          </a:stretch>
        </p:blipFill>
        <p:spPr>
          <a:xfrm>
            <a:off x="4498848" y="2889504"/>
            <a:ext cx="292608" cy="292608"/>
          </a:xfrm>
          <a:prstGeom prst="rect">
            <a:avLst/>
          </a:prstGeom>
        </p:spPr>
      </p:pic>
      <p:sp>
        <p:nvSpPr>
          <p:cNvPr id="25" name="Text 19"/>
          <p:cNvSpPr/>
          <p:nvPr/>
        </p:nvSpPr>
        <p:spPr>
          <a:xfrm>
            <a:off x="4864608" y="2871216"/>
            <a:ext cx="3931920" cy="274320"/>
          </a:xfrm>
          <a:prstGeom prst="rect">
            <a:avLst/>
          </a:prstGeom>
          <a:noFill/>
        </p:spPr>
        <p:txBody>
          <a:bodyPr wrap="square" lIns="0" tIns="0" rIns="0" bIns="0" rtlCol="0" anchor="ctr"/>
          <a:lstStyle/>
          <a:p>
            <a:pPr marL="0" indent="0">
              <a:buNone/>
            </a:pPr>
            <a:r>
              <a:rPr lang="en-US" sz="1200" b="1" dirty="0">
                <a:solidFill>
                  <a:srgbClr val="1B3560"/>
                </a:solidFill>
                <a:latin typeface="Calibri" panose="020F0502020204030204" pitchFamily="34" charset="0"/>
                <a:ea typeface="Calibri" panose="020F0502020204030204" pitchFamily="34" charset="-122"/>
                <a:cs typeface="Calibri" panose="020F0502020204030204" pitchFamily="34" charset="-120"/>
              </a:rPr>
              <a:t>Manual HRMS Updates</a:t>
            </a:r>
            <a:endParaRPr lang="en-US" sz="1200" dirty="0"/>
          </a:p>
        </p:txBody>
      </p:sp>
      <p:sp>
        <p:nvSpPr>
          <p:cNvPr id="26" name="Text 20"/>
          <p:cNvSpPr/>
          <p:nvPr/>
        </p:nvSpPr>
        <p:spPr>
          <a:xfrm>
            <a:off x="4864608" y="3182112"/>
            <a:ext cx="3931920" cy="502920"/>
          </a:xfrm>
          <a:prstGeom prst="rect">
            <a:avLst/>
          </a:prstGeom>
          <a:noFill/>
        </p:spPr>
        <p:txBody>
          <a:bodyPr wrap="square" lIns="0" tIns="0" rIns="0" bIns="0" rtlCol="0" anchor="ctr"/>
          <a:lstStyle/>
          <a:p>
            <a:pPr marL="0" indent="0">
              <a:buNone/>
            </a:pPr>
            <a:r>
              <a:rPr lang="en-US" sz="1050" dirty="0">
                <a:solidFill>
                  <a:srgbClr val="64748B"/>
                </a:solidFill>
                <a:latin typeface="Calibri" panose="020F0502020204030204" pitchFamily="34" charset="0"/>
                <a:ea typeface="Calibri" panose="020F0502020204030204" pitchFamily="34" charset="-122"/>
                <a:cs typeface="Calibri" panose="020F0502020204030204" pitchFamily="34" charset="-120"/>
              </a:rPr>
              <a:t>After each renewal, admins had to manually re-enter updated details in greytHR — affecting payroll and employee eligibility if delayed.</a:t>
            </a:r>
            <a:endParaRPr lang="en-US" sz="1050" dirty="0"/>
          </a:p>
        </p:txBody>
      </p:sp>
      <p:sp>
        <p:nvSpPr>
          <p:cNvPr id="27" name="Shape 21"/>
          <p:cNvSpPr/>
          <p:nvPr/>
        </p:nvSpPr>
        <p:spPr>
          <a:xfrm>
            <a:off x="4370832" y="3840480"/>
            <a:ext cx="4572000" cy="987552"/>
          </a:xfrm>
          <a:prstGeom prst="rect">
            <a:avLst/>
          </a:prstGeom>
          <a:solidFill>
            <a:srgbClr val="FFFFFF"/>
          </a:solidFill>
          <a:ln w="12700">
            <a:solidFill>
              <a:srgbClr val="EEF2F7"/>
            </a:solidFill>
            <a:prstDash val="solid"/>
          </a:ln>
          <a:effectLst>
            <a:outerShdw blurRad="76200" dist="25400" dir="8100000" algn="bl" rotWithShape="0">
              <a:srgbClr val="000000">
                <a:alpha val="10000"/>
              </a:srgbClr>
            </a:outerShdw>
          </a:effectLst>
        </p:spPr>
      </p:sp>
      <p:sp>
        <p:nvSpPr>
          <p:cNvPr id="28" name="Shape 22"/>
          <p:cNvSpPr/>
          <p:nvPr/>
        </p:nvSpPr>
        <p:spPr>
          <a:xfrm>
            <a:off x="4370832" y="3840480"/>
            <a:ext cx="54864" cy="987552"/>
          </a:xfrm>
          <a:prstGeom prst="rect">
            <a:avLst/>
          </a:prstGeom>
          <a:solidFill>
            <a:srgbClr val="D97706"/>
          </a:solidFill>
          <a:ln w="12700">
            <a:solidFill>
              <a:srgbClr val="D97706"/>
            </a:solidFill>
            <a:prstDash val="solid"/>
          </a:ln>
        </p:spPr>
      </p:sp>
      <p:pic>
        <p:nvPicPr>
          <p:cNvPr id="29" name="Image 4" descr="preencoded.png"/>
          <p:cNvPicPr>
            <a:picLocks noChangeAspect="1"/>
          </p:cNvPicPr>
          <p:nvPr/>
        </p:nvPicPr>
        <p:blipFill>
          <a:blip r:embed="rId2"/>
          <a:stretch>
            <a:fillRect/>
          </a:stretch>
        </p:blipFill>
        <p:spPr>
          <a:xfrm>
            <a:off x="4498848" y="3950208"/>
            <a:ext cx="292608" cy="292608"/>
          </a:xfrm>
          <a:prstGeom prst="rect">
            <a:avLst/>
          </a:prstGeom>
        </p:spPr>
      </p:pic>
      <p:sp>
        <p:nvSpPr>
          <p:cNvPr id="30" name="Text 23"/>
          <p:cNvSpPr/>
          <p:nvPr/>
        </p:nvSpPr>
        <p:spPr>
          <a:xfrm>
            <a:off x="4864608" y="3931920"/>
            <a:ext cx="3931920" cy="274320"/>
          </a:xfrm>
          <a:prstGeom prst="rect">
            <a:avLst/>
          </a:prstGeom>
          <a:noFill/>
        </p:spPr>
        <p:txBody>
          <a:bodyPr wrap="square" lIns="0" tIns="0" rIns="0" bIns="0" rtlCol="0" anchor="ctr"/>
          <a:lstStyle/>
          <a:p>
            <a:pPr marL="0" indent="0">
              <a:buNone/>
            </a:pPr>
            <a:r>
              <a:rPr lang="en-US" sz="1200" b="1" dirty="0">
                <a:solidFill>
                  <a:srgbClr val="1B3560"/>
                </a:solidFill>
                <a:latin typeface="Calibri" panose="020F0502020204030204" pitchFamily="34" charset="0"/>
                <a:ea typeface="Calibri" panose="020F0502020204030204" pitchFamily="34" charset="-122"/>
                <a:cs typeface="Calibri" panose="020F0502020204030204" pitchFamily="34" charset="-120"/>
              </a:rPr>
              <a:t>No Audit Trail</a:t>
            </a:r>
            <a:endParaRPr lang="en-US" sz="1200" dirty="0"/>
          </a:p>
        </p:txBody>
      </p:sp>
      <p:sp>
        <p:nvSpPr>
          <p:cNvPr id="31" name="Text 24"/>
          <p:cNvSpPr/>
          <p:nvPr/>
        </p:nvSpPr>
        <p:spPr>
          <a:xfrm>
            <a:off x="4864608" y="4242816"/>
            <a:ext cx="3931920" cy="502920"/>
          </a:xfrm>
          <a:prstGeom prst="rect">
            <a:avLst/>
          </a:prstGeom>
          <a:noFill/>
        </p:spPr>
        <p:txBody>
          <a:bodyPr wrap="square" lIns="0" tIns="0" rIns="0" bIns="0" rtlCol="0" anchor="ctr"/>
          <a:lstStyle/>
          <a:p>
            <a:pPr marL="0" indent="0">
              <a:buNone/>
            </a:pPr>
            <a:r>
              <a:rPr lang="en-US" sz="1050" dirty="0">
                <a:solidFill>
                  <a:srgbClr val="64748B"/>
                </a:solidFill>
                <a:latin typeface="Calibri" panose="020F0502020204030204" pitchFamily="34" charset="0"/>
                <a:ea typeface="Calibri" panose="020F0502020204030204" pitchFamily="34" charset="-122"/>
                <a:cs typeface="Calibri" panose="020F0502020204030204" pitchFamily="34" charset="-120"/>
              </a:rPr>
              <a:t>No centralised record of who approved what, when — creating compliance risk for a regulation-heavy region like the Middle East.</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B3560"/>
          </a:solidFill>
          <a:ln w="12700">
            <a:solidFill>
              <a:srgbClr val="1B3560"/>
            </a:solidFill>
            <a:prstDash val="solid"/>
          </a:ln>
        </p:spPr>
      </p:sp>
      <p:sp>
        <p:nvSpPr>
          <p:cNvPr id="3" name="Shape 1"/>
          <p:cNvSpPr/>
          <p:nvPr/>
        </p:nvSpPr>
        <p:spPr>
          <a:xfrm>
            <a:off x="274320" y="201168"/>
            <a:ext cx="457200" cy="256032"/>
          </a:xfrm>
          <a:prstGeom prst="rect">
            <a:avLst/>
          </a:prstGeom>
          <a:solidFill>
            <a:srgbClr val="2A7D8E"/>
          </a:solidFill>
          <a:ln w="12700">
            <a:solidFill>
              <a:srgbClr val="2A7D8E"/>
            </a:solidFill>
            <a:prstDash val="solid"/>
          </a:ln>
        </p:spPr>
      </p:sp>
      <p:sp>
        <p:nvSpPr>
          <p:cNvPr id="4" name="Text 2"/>
          <p:cNvSpPr/>
          <p:nvPr/>
        </p:nvSpPr>
        <p:spPr>
          <a:xfrm>
            <a:off x="274320" y="201168"/>
            <a:ext cx="457200" cy="256032"/>
          </a:xfrm>
          <a:prstGeom prst="rect">
            <a:avLst/>
          </a:prstGeom>
          <a:noFill/>
        </p:spPr>
        <p:txBody>
          <a:bodyPr wrap="square" lIns="0" tIns="0" rIns="0" bIns="0" rtlCol="0" anchor="ct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03</a:t>
            </a:r>
            <a:endParaRPr lang="en-US" sz="1000" dirty="0"/>
          </a:p>
        </p:txBody>
      </p:sp>
      <p:sp>
        <p:nvSpPr>
          <p:cNvPr id="5" name="Text 3"/>
          <p:cNvSpPr/>
          <p:nvPr/>
        </p:nvSpPr>
        <p:spPr>
          <a:xfrm>
            <a:off x="868680" y="164592"/>
            <a:ext cx="5486400" cy="347472"/>
          </a:xfrm>
          <a:prstGeom prst="rect">
            <a:avLst/>
          </a:prstGeom>
          <a:noFill/>
        </p:spPr>
        <p:txBody>
          <a:bodyPr wrap="square" lIns="0" tIns="0" rIns="0" bIns="0" rtlCol="0" anchor="ctr"/>
          <a:lstStyle/>
          <a:p>
            <a:pPr marL="0" indent="0">
              <a:buNone/>
            </a:pPr>
            <a:r>
              <a:rPr lang="en-US" sz="2200" b="1" dirty="0">
                <a:solidFill>
                  <a:srgbClr val="1B3560"/>
                </a:solidFill>
                <a:latin typeface="Calibri" panose="020F0502020204030204" pitchFamily="34" charset="0"/>
                <a:ea typeface="Calibri" panose="020F0502020204030204" pitchFamily="34" charset="-122"/>
                <a:cs typeface="Calibri" panose="020F0502020204030204" pitchFamily="34" charset="-120"/>
              </a:rPr>
              <a:t>My Role &amp; Process</a:t>
            </a:r>
            <a:endParaRPr lang="en-US" sz="2200" dirty="0"/>
          </a:p>
        </p:txBody>
      </p:sp>
      <p:sp>
        <p:nvSpPr>
          <p:cNvPr id="6" name="Shape 4"/>
          <p:cNvSpPr/>
          <p:nvPr/>
        </p:nvSpPr>
        <p:spPr>
          <a:xfrm>
            <a:off x="6400800" y="164592"/>
            <a:ext cx="2542032" cy="347472"/>
          </a:xfrm>
          <a:prstGeom prst="rect">
            <a:avLst/>
          </a:prstGeom>
          <a:solidFill>
            <a:srgbClr val="2A7D8E"/>
          </a:solidFill>
          <a:ln w="12700">
            <a:solidFill>
              <a:srgbClr val="2A7D8E"/>
            </a:solidFill>
            <a:prstDash val="solid"/>
          </a:ln>
        </p:spPr>
      </p:sp>
      <p:sp>
        <p:nvSpPr>
          <p:cNvPr id="7" name="Text 5"/>
          <p:cNvSpPr/>
          <p:nvPr/>
        </p:nvSpPr>
        <p:spPr>
          <a:xfrm>
            <a:off x="6400800" y="164592"/>
            <a:ext cx="2542032" cy="347472"/>
          </a:xfrm>
          <a:prstGeom prst="rect">
            <a:avLst/>
          </a:prstGeom>
          <a:noFill/>
        </p:spPr>
        <p:txBody>
          <a:bodyPr wrap="square" lIns="0" tIns="0" rIns="0" bIns="0" rtlCol="0" anchor="ctr"/>
          <a:lstStyle/>
          <a:p>
            <a:pPr marL="0" indent="0" algn="ctr">
              <a:buNone/>
            </a:pPr>
            <a:r>
              <a:rPr lang="en-US" sz="900" dirty="0">
                <a:solidFill>
                  <a:srgbClr val="FFFFFF"/>
                </a:solidFill>
                <a:latin typeface="Calibri" panose="020F0502020204030204" pitchFamily="34" charset="0"/>
                <a:ea typeface="Calibri" panose="020F0502020204030204" pitchFamily="34" charset="-122"/>
                <a:cs typeface="Calibri" panose="020F0502020204030204" pitchFamily="34" charset="-120"/>
              </a:rPr>
              <a:t>Team: PM + 4–6 Engineers  ·  Timeline: 2 Months</a:t>
            </a:r>
            <a:endParaRPr lang="en-US" sz="900" dirty="0"/>
          </a:p>
        </p:txBody>
      </p:sp>
      <p:sp>
        <p:nvSpPr>
          <p:cNvPr id="8" name="Shape 6"/>
          <p:cNvSpPr/>
          <p:nvPr/>
        </p:nvSpPr>
        <p:spPr>
          <a:xfrm>
            <a:off x="274320" y="658368"/>
            <a:ext cx="8595360" cy="502920"/>
          </a:xfrm>
          <a:prstGeom prst="rect">
            <a:avLst/>
          </a:prstGeom>
          <a:solidFill>
            <a:srgbClr val="E6F4F6"/>
          </a:solidFill>
          <a:ln w="12700">
            <a:solidFill>
              <a:srgbClr val="2A7D8E"/>
            </a:solidFill>
            <a:prstDash val="solid"/>
          </a:ln>
        </p:spPr>
      </p:sp>
      <p:pic>
        <p:nvPicPr>
          <p:cNvPr id="9" name="Image 0" descr="preencoded.png"/>
          <p:cNvPicPr>
            <a:picLocks noChangeAspect="1"/>
          </p:cNvPicPr>
          <p:nvPr/>
        </p:nvPicPr>
        <p:blipFill>
          <a:blip r:embed="rId1"/>
          <a:stretch>
            <a:fillRect/>
          </a:stretch>
        </p:blipFill>
        <p:spPr>
          <a:xfrm>
            <a:off x="402336" y="758952"/>
            <a:ext cx="274320" cy="274320"/>
          </a:xfrm>
          <a:prstGeom prst="rect">
            <a:avLst/>
          </a:prstGeom>
        </p:spPr>
      </p:pic>
      <p:sp>
        <p:nvSpPr>
          <p:cNvPr id="10" name="Text 7"/>
          <p:cNvSpPr/>
          <p:nvPr/>
        </p:nvSpPr>
        <p:spPr>
          <a:xfrm>
            <a:off x="749808" y="731520"/>
            <a:ext cx="1417320" cy="320040"/>
          </a:xfrm>
          <a:prstGeom prst="rect">
            <a:avLst/>
          </a:prstGeom>
          <a:noFill/>
        </p:spPr>
        <p:txBody>
          <a:bodyPr wrap="square" lIns="0" tIns="0" rIns="0" bIns="0" rtlCol="0" anchor="ctr"/>
          <a:lstStyle/>
          <a:p>
            <a:pPr marL="0" indent="0">
              <a:buNone/>
            </a:pPr>
            <a:r>
              <a:rPr lang="en-US" sz="1100" b="1" dirty="0">
                <a:solidFill>
                  <a:srgbClr val="2A7D8E"/>
                </a:solidFill>
                <a:latin typeface="Calibri" panose="020F0502020204030204" pitchFamily="34" charset="0"/>
                <a:ea typeface="Calibri" panose="020F0502020204030204" pitchFamily="34" charset="-122"/>
                <a:cs typeface="Calibri" panose="020F0502020204030204" pitchFamily="34" charset="-120"/>
              </a:rPr>
              <a:t>Key PM Decision: </a:t>
            </a:r>
            <a:endParaRPr lang="en-US" sz="1100" dirty="0"/>
          </a:p>
        </p:txBody>
      </p:sp>
      <p:sp>
        <p:nvSpPr>
          <p:cNvPr id="11" name="Text 8"/>
          <p:cNvSpPr/>
          <p:nvPr/>
        </p:nvSpPr>
        <p:spPr>
          <a:xfrm>
            <a:off x="2084832" y="731520"/>
            <a:ext cx="6675120" cy="365760"/>
          </a:xfrm>
          <a:prstGeom prst="rect">
            <a:avLst/>
          </a:prstGeom>
          <a:noFill/>
        </p:spPr>
        <p:txBody>
          <a:bodyPr wrap="square" lIns="0" tIns="0" rIns="0" bIns="0" rtlCol="0" anchor="ctr"/>
          <a:lstStyle/>
          <a:p>
            <a:pPr marL="0" indent="0">
              <a:buNone/>
            </a:pPr>
            <a:r>
              <a:rPr lang="en-US" sz="1100" dirty="0">
                <a:solidFill>
                  <a:srgbClr val="1B3560"/>
                </a:solidFill>
                <a:latin typeface="Calibri" panose="020F0502020204030204" pitchFamily="34" charset="0"/>
                <a:ea typeface="Calibri" panose="020F0502020204030204" pitchFamily="34" charset="-122"/>
                <a:cs typeface="Calibri" panose="020F0502020204030204" pitchFamily="34" charset="-120"/>
              </a:rPr>
              <a:t>Rather than building a one-off solution for one client, I cross-referenced support tickets and interviewed multiple customers — identifying a platform-wide need and scaling the solution via a tiered subscription model.</a:t>
            </a:r>
            <a:endParaRPr lang="en-US" sz="1100" dirty="0"/>
          </a:p>
        </p:txBody>
      </p:sp>
      <p:sp>
        <p:nvSpPr>
          <p:cNvPr id="12" name="Shape 9"/>
          <p:cNvSpPr/>
          <p:nvPr/>
        </p:nvSpPr>
        <p:spPr>
          <a:xfrm>
            <a:off x="384048" y="1810512"/>
            <a:ext cx="8458200" cy="32004"/>
          </a:xfrm>
          <a:prstGeom prst="rect">
            <a:avLst/>
          </a:prstGeom>
          <a:solidFill>
            <a:srgbClr val="2A7D8E"/>
          </a:solidFill>
          <a:ln w="12700">
            <a:solidFill>
              <a:srgbClr val="2A7D8E"/>
            </a:solidFill>
            <a:prstDash val="solid"/>
          </a:ln>
        </p:spPr>
      </p:sp>
      <p:sp>
        <p:nvSpPr>
          <p:cNvPr id="13" name="Shape 10"/>
          <p:cNvSpPr/>
          <p:nvPr/>
        </p:nvSpPr>
        <p:spPr>
          <a:xfrm>
            <a:off x="603504" y="1499616"/>
            <a:ext cx="566928" cy="566928"/>
          </a:xfrm>
          <a:prstGeom prst="ellipse">
            <a:avLst/>
          </a:prstGeom>
          <a:solidFill>
            <a:srgbClr val="1B3560"/>
          </a:solidFill>
          <a:ln w="12700">
            <a:solidFill>
              <a:srgbClr val="2A7D8E"/>
            </a:solidFill>
            <a:prstDash val="solid"/>
          </a:ln>
        </p:spPr>
      </p:sp>
      <p:sp>
        <p:nvSpPr>
          <p:cNvPr id="14" name="Text 11"/>
          <p:cNvSpPr/>
          <p:nvPr/>
        </p:nvSpPr>
        <p:spPr>
          <a:xfrm>
            <a:off x="603504" y="1499616"/>
            <a:ext cx="566928" cy="566928"/>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300" dirty="0"/>
          </a:p>
        </p:txBody>
      </p:sp>
      <p:sp>
        <p:nvSpPr>
          <p:cNvPr id="15" name="Text 12"/>
          <p:cNvSpPr/>
          <p:nvPr/>
        </p:nvSpPr>
        <p:spPr>
          <a:xfrm>
            <a:off x="292608" y="2157984"/>
            <a:ext cx="1353312" cy="347472"/>
          </a:xfrm>
          <a:prstGeom prst="rect">
            <a:avLst/>
          </a:prstGeom>
          <a:noFill/>
        </p:spPr>
        <p:txBody>
          <a:bodyPr wrap="square" lIns="0" tIns="0" rIns="0" bIns="0" rtlCol="0" anchor="ctr"/>
          <a:lstStyle/>
          <a:p>
            <a:pPr marL="0" indent="0" algn="ctr">
              <a:buNone/>
            </a:pPr>
            <a:r>
              <a:rPr lang="en-US" sz="1000" b="1" dirty="0">
                <a:solidFill>
                  <a:srgbClr val="1B3560"/>
                </a:solidFill>
                <a:latin typeface="Calibri" panose="020F0502020204030204" pitchFamily="34" charset="0"/>
                <a:ea typeface="Calibri" panose="020F0502020204030204" pitchFamily="34" charset="-122"/>
                <a:cs typeface="Calibri" panose="020F0502020204030204" pitchFamily="34" charset="-120"/>
              </a:rPr>
              <a:t>Discovery</a:t>
            </a:r>
            <a:endParaRPr lang="en-US" sz="1000" dirty="0"/>
          </a:p>
        </p:txBody>
      </p:sp>
      <p:sp>
        <p:nvSpPr>
          <p:cNvPr id="16" name="Shape 13"/>
          <p:cNvSpPr/>
          <p:nvPr/>
        </p:nvSpPr>
        <p:spPr>
          <a:xfrm>
            <a:off x="292608" y="2560320"/>
            <a:ext cx="1353312" cy="2286000"/>
          </a:xfrm>
          <a:prstGeom prst="rect">
            <a:avLst/>
          </a:prstGeom>
          <a:solidFill>
            <a:srgbClr val="FFFFFF"/>
          </a:solidFill>
          <a:ln w="12700">
            <a:solidFill>
              <a:srgbClr val="EEF2F7"/>
            </a:solidFill>
            <a:prstDash val="solid"/>
          </a:ln>
        </p:spPr>
      </p:sp>
      <p:sp>
        <p:nvSpPr>
          <p:cNvPr id="17" name="Shape 14"/>
          <p:cNvSpPr/>
          <p:nvPr/>
        </p:nvSpPr>
        <p:spPr>
          <a:xfrm>
            <a:off x="292608" y="2560320"/>
            <a:ext cx="1353312" cy="45720"/>
          </a:xfrm>
          <a:prstGeom prst="rect">
            <a:avLst/>
          </a:prstGeom>
          <a:solidFill>
            <a:srgbClr val="2A7D8E"/>
          </a:solidFill>
          <a:ln w="12700">
            <a:solidFill>
              <a:srgbClr val="2A7D8E"/>
            </a:solidFill>
            <a:prstDash val="solid"/>
          </a:ln>
        </p:spPr>
      </p:sp>
      <p:sp>
        <p:nvSpPr>
          <p:cNvPr id="18" name="Text 15"/>
          <p:cNvSpPr/>
          <p:nvPr/>
        </p:nvSpPr>
        <p:spPr>
          <a:xfrm>
            <a:off x="347472" y="2651760"/>
            <a:ext cx="1243584" cy="2103120"/>
          </a:xfrm>
          <a:prstGeom prst="rect">
            <a:avLst/>
          </a:prstGeom>
          <a:noFill/>
        </p:spPr>
        <p:txBody>
          <a:bodyPr wrap="square" lIns="0" tIns="0" rIns="0" bIns="0" rtlCol="0" anchor="ctr"/>
          <a:lstStyle/>
          <a:p>
            <a:pPr marL="0" indent="0">
              <a:buNone/>
            </a:pPr>
            <a:r>
              <a:rPr lang="en-US" sz="900" dirty="0">
                <a:solidFill>
                  <a:srgbClr val="64748B"/>
                </a:solidFill>
                <a:latin typeface="Calibri" panose="020F0502020204030204" pitchFamily="34" charset="0"/>
                <a:ea typeface="Calibri" panose="020F0502020204030204" pitchFamily="34" charset="-122"/>
                <a:cs typeface="Calibri" panose="020F0502020204030204" pitchFamily="34" charset="-120"/>
              </a:rPr>
              <a:t>Direct client call</a:t>
            </a:r>
            <a:endParaRPr lang="en-US" sz="900" dirty="0"/>
          </a:p>
          <a:p>
            <a:pPr marL="0" indent="0">
              <a:buNone/>
            </a:pPr>
            <a:r>
              <a:rPr lang="en-US" sz="900" dirty="0">
                <a:solidFill>
                  <a:srgbClr val="64748B"/>
                </a:solidFill>
                <a:latin typeface="Calibri" panose="020F0502020204030204" pitchFamily="34" charset="0"/>
                <a:ea typeface="Calibri" panose="020F0502020204030204" pitchFamily="34" charset="-122"/>
                <a:cs typeface="Calibri" panose="020F0502020204030204" pitchFamily="34" charset="-120"/>
              </a:rPr>
              <a:t>Reframed 'table'</a:t>
            </a:r>
            <a:endParaRPr lang="en-US" sz="900" dirty="0"/>
          </a:p>
          <a:p>
            <a:pPr marL="0" indent="0">
              <a:buNone/>
            </a:pPr>
            <a:r>
              <a:rPr lang="en-US" sz="900" dirty="0">
                <a:solidFill>
                  <a:srgbClr val="64748B"/>
                </a:solidFill>
                <a:latin typeface="Calibri" panose="020F0502020204030204" pitchFamily="34" charset="0"/>
                <a:ea typeface="Calibri" panose="020F0502020204030204" pitchFamily="34" charset="-122"/>
                <a:cs typeface="Calibri" panose="020F0502020204030204" pitchFamily="34" charset="-120"/>
              </a:rPr>
              <a:t>to 'workflow'</a:t>
            </a:r>
            <a:endParaRPr lang="en-US" sz="900" dirty="0"/>
          </a:p>
          <a:p>
            <a:pPr marL="0" indent="0">
              <a:buNone/>
            </a:pPr>
            <a:r>
              <a:rPr lang="en-US" sz="900" dirty="0">
                <a:solidFill>
                  <a:srgbClr val="64748B"/>
                </a:solidFill>
                <a:latin typeface="Calibri" panose="020F0502020204030204" pitchFamily="34" charset="0"/>
                <a:ea typeface="Calibri" panose="020F0502020204030204" pitchFamily="34" charset="-122"/>
                <a:cs typeface="Calibri" panose="020F0502020204030204" pitchFamily="34" charset="-120"/>
              </a:rPr>
              <a:t>Identified real need</a:t>
            </a:r>
            <a:endParaRPr lang="en-US" sz="900" dirty="0"/>
          </a:p>
        </p:txBody>
      </p:sp>
      <p:sp>
        <p:nvSpPr>
          <p:cNvPr id="19" name="Shape 16"/>
          <p:cNvSpPr/>
          <p:nvPr/>
        </p:nvSpPr>
        <p:spPr>
          <a:xfrm>
            <a:off x="2048256" y="1499616"/>
            <a:ext cx="566928" cy="566928"/>
          </a:xfrm>
          <a:prstGeom prst="ellipse">
            <a:avLst/>
          </a:prstGeom>
          <a:solidFill>
            <a:srgbClr val="1B3560"/>
          </a:solidFill>
          <a:ln w="12700">
            <a:solidFill>
              <a:srgbClr val="2A7D8E"/>
            </a:solidFill>
            <a:prstDash val="solid"/>
          </a:ln>
        </p:spPr>
      </p:sp>
      <p:sp>
        <p:nvSpPr>
          <p:cNvPr id="20" name="Text 17"/>
          <p:cNvSpPr/>
          <p:nvPr/>
        </p:nvSpPr>
        <p:spPr>
          <a:xfrm>
            <a:off x="2048256" y="1499616"/>
            <a:ext cx="566928" cy="566928"/>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300" dirty="0"/>
          </a:p>
        </p:txBody>
      </p:sp>
      <p:sp>
        <p:nvSpPr>
          <p:cNvPr id="21" name="Text 18"/>
          <p:cNvSpPr/>
          <p:nvPr/>
        </p:nvSpPr>
        <p:spPr>
          <a:xfrm>
            <a:off x="1737360" y="2157984"/>
            <a:ext cx="1353312" cy="347472"/>
          </a:xfrm>
          <a:prstGeom prst="rect">
            <a:avLst/>
          </a:prstGeom>
          <a:noFill/>
        </p:spPr>
        <p:txBody>
          <a:bodyPr wrap="square" lIns="0" tIns="0" rIns="0" bIns="0" rtlCol="0" anchor="ctr"/>
          <a:lstStyle/>
          <a:p>
            <a:pPr marL="0" indent="0" algn="ctr">
              <a:buNone/>
            </a:pPr>
            <a:r>
              <a:rPr lang="en-US" sz="1000" b="1" dirty="0">
                <a:solidFill>
                  <a:srgbClr val="1B3560"/>
                </a:solidFill>
                <a:latin typeface="Calibri" panose="020F0502020204030204" pitchFamily="34" charset="0"/>
                <a:ea typeface="Calibri" panose="020F0502020204030204" pitchFamily="34" charset="-122"/>
                <a:cs typeface="Calibri" panose="020F0502020204030204" pitchFamily="34" charset="-120"/>
              </a:rPr>
              <a:t>Pattern Analysis</a:t>
            </a:r>
            <a:endParaRPr lang="en-US" sz="1000" dirty="0"/>
          </a:p>
        </p:txBody>
      </p:sp>
      <p:sp>
        <p:nvSpPr>
          <p:cNvPr id="22" name="Shape 19"/>
          <p:cNvSpPr/>
          <p:nvPr/>
        </p:nvSpPr>
        <p:spPr>
          <a:xfrm>
            <a:off x="1737360" y="2560320"/>
            <a:ext cx="1353312" cy="2286000"/>
          </a:xfrm>
          <a:prstGeom prst="rect">
            <a:avLst/>
          </a:prstGeom>
          <a:solidFill>
            <a:srgbClr val="FFFFFF"/>
          </a:solidFill>
          <a:ln w="12700">
            <a:solidFill>
              <a:srgbClr val="EEF2F7"/>
            </a:solidFill>
            <a:prstDash val="solid"/>
          </a:ln>
        </p:spPr>
      </p:sp>
      <p:sp>
        <p:nvSpPr>
          <p:cNvPr id="23" name="Shape 20"/>
          <p:cNvSpPr/>
          <p:nvPr/>
        </p:nvSpPr>
        <p:spPr>
          <a:xfrm>
            <a:off x="1737360" y="2560320"/>
            <a:ext cx="1353312" cy="45720"/>
          </a:xfrm>
          <a:prstGeom prst="rect">
            <a:avLst/>
          </a:prstGeom>
          <a:solidFill>
            <a:srgbClr val="2A7D8E"/>
          </a:solidFill>
          <a:ln w="12700">
            <a:solidFill>
              <a:srgbClr val="2A7D8E"/>
            </a:solidFill>
            <a:prstDash val="solid"/>
          </a:ln>
        </p:spPr>
      </p:sp>
      <p:sp>
        <p:nvSpPr>
          <p:cNvPr id="24" name="Text 21"/>
          <p:cNvSpPr/>
          <p:nvPr/>
        </p:nvSpPr>
        <p:spPr>
          <a:xfrm>
            <a:off x="1792224" y="2651760"/>
            <a:ext cx="1243584" cy="2103120"/>
          </a:xfrm>
          <a:prstGeom prst="rect">
            <a:avLst/>
          </a:prstGeom>
          <a:noFill/>
        </p:spPr>
        <p:txBody>
          <a:bodyPr wrap="square" lIns="0" tIns="0" rIns="0" bIns="0" rtlCol="0" anchor="ctr"/>
          <a:lstStyle/>
          <a:p>
            <a:pPr marL="0" indent="0">
              <a:buNone/>
            </a:pPr>
            <a:r>
              <a:rPr lang="en-US" sz="900" dirty="0">
                <a:solidFill>
                  <a:srgbClr val="64748B"/>
                </a:solidFill>
                <a:latin typeface="Calibri" panose="020F0502020204030204" pitchFamily="34" charset="0"/>
                <a:ea typeface="Calibri" panose="020F0502020204030204" pitchFamily="34" charset="-122"/>
                <a:cs typeface="Calibri" panose="020F0502020204030204" pitchFamily="34" charset="-120"/>
              </a:rPr>
              <a:t>Mined support</a:t>
            </a:r>
            <a:endParaRPr lang="en-US" sz="900" dirty="0"/>
          </a:p>
          <a:p>
            <a:pPr marL="0" indent="0">
              <a:buNone/>
            </a:pPr>
            <a:r>
              <a:rPr lang="en-US" sz="900" dirty="0">
                <a:solidFill>
                  <a:srgbClr val="64748B"/>
                </a:solidFill>
                <a:latin typeface="Calibri" panose="020F0502020204030204" pitchFamily="34" charset="0"/>
                <a:ea typeface="Calibri" panose="020F0502020204030204" pitchFamily="34" charset="-122"/>
                <a:cs typeface="Calibri" panose="020F0502020204030204" pitchFamily="34" charset="-120"/>
              </a:rPr>
              <a:t>tickets</a:t>
            </a:r>
            <a:endParaRPr lang="en-US" sz="900" dirty="0"/>
          </a:p>
          <a:p>
            <a:pPr marL="0" indent="0">
              <a:buNone/>
            </a:pPr>
            <a:r>
              <a:rPr lang="en-US" sz="900" dirty="0">
                <a:solidFill>
                  <a:srgbClr val="64748B"/>
                </a:solidFill>
                <a:latin typeface="Calibri" panose="020F0502020204030204" pitchFamily="34" charset="0"/>
                <a:ea typeface="Calibri" panose="020F0502020204030204" pitchFamily="34" charset="-122"/>
                <a:cs typeface="Calibri" panose="020F0502020204030204" pitchFamily="34" charset="-120"/>
              </a:rPr>
              <a:t>Interviewed multiple</a:t>
            </a:r>
            <a:endParaRPr lang="en-US" sz="900" dirty="0"/>
          </a:p>
          <a:p>
            <a:pPr marL="0" indent="0">
              <a:buNone/>
            </a:pPr>
            <a:r>
              <a:rPr lang="en-US" sz="900" dirty="0">
                <a:solidFill>
                  <a:srgbClr val="64748B"/>
                </a:solidFill>
                <a:latin typeface="Calibri" panose="020F0502020204030204" pitchFamily="34" charset="0"/>
                <a:ea typeface="Calibri" panose="020F0502020204030204" pitchFamily="34" charset="-122"/>
                <a:cs typeface="Calibri" panose="020F0502020204030204" pitchFamily="34" charset="-120"/>
              </a:rPr>
              <a:t>Clients</a:t>
            </a:r>
            <a:endParaRPr lang="en-US" sz="900" dirty="0"/>
          </a:p>
          <a:p>
            <a:pPr marL="0" indent="0">
              <a:buNone/>
            </a:pPr>
            <a:r>
              <a:rPr lang="en-US" sz="900" dirty="0">
                <a:solidFill>
                  <a:srgbClr val="64748B"/>
                </a:solidFill>
                <a:latin typeface="Calibri" panose="020F0502020204030204" pitchFamily="34" charset="0"/>
                <a:ea typeface="Calibri" panose="020F0502020204030204" pitchFamily="34" charset="-122"/>
                <a:cs typeface="Calibri" panose="020F0502020204030204" pitchFamily="34" charset="-120"/>
              </a:rPr>
              <a:t>Confirmed platform gap</a:t>
            </a:r>
            <a:endParaRPr lang="en-US" sz="900" dirty="0"/>
          </a:p>
        </p:txBody>
      </p:sp>
      <p:sp>
        <p:nvSpPr>
          <p:cNvPr id="25" name="Shape 22"/>
          <p:cNvSpPr/>
          <p:nvPr/>
        </p:nvSpPr>
        <p:spPr>
          <a:xfrm>
            <a:off x="3493008" y="1499616"/>
            <a:ext cx="566928" cy="566928"/>
          </a:xfrm>
          <a:prstGeom prst="ellipse">
            <a:avLst/>
          </a:prstGeom>
          <a:solidFill>
            <a:srgbClr val="D97706"/>
          </a:solidFill>
          <a:ln w="12700">
            <a:solidFill>
              <a:srgbClr val="D97706"/>
            </a:solidFill>
            <a:prstDash val="solid"/>
          </a:ln>
        </p:spPr>
      </p:sp>
      <p:sp>
        <p:nvSpPr>
          <p:cNvPr id="26" name="Text 23"/>
          <p:cNvSpPr/>
          <p:nvPr/>
        </p:nvSpPr>
        <p:spPr>
          <a:xfrm>
            <a:off x="3493008" y="1499616"/>
            <a:ext cx="566928" cy="566928"/>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300" dirty="0"/>
          </a:p>
        </p:txBody>
      </p:sp>
      <p:sp>
        <p:nvSpPr>
          <p:cNvPr id="27" name="Text 24"/>
          <p:cNvSpPr/>
          <p:nvPr/>
        </p:nvSpPr>
        <p:spPr>
          <a:xfrm>
            <a:off x="3182112" y="2157984"/>
            <a:ext cx="1353312" cy="347472"/>
          </a:xfrm>
          <a:prstGeom prst="rect">
            <a:avLst/>
          </a:prstGeom>
          <a:noFill/>
        </p:spPr>
        <p:txBody>
          <a:bodyPr wrap="square" lIns="0" tIns="0" rIns="0" bIns="0" rtlCol="0" anchor="ctr"/>
          <a:lstStyle/>
          <a:p>
            <a:pPr marL="0" indent="0" algn="ctr">
              <a:buNone/>
            </a:pPr>
            <a:r>
              <a:rPr lang="en-US" sz="1000" b="1" dirty="0">
                <a:solidFill>
                  <a:srgbClr val="D97706"/>
                </a:solidFill>
                <a:latin typeface="Calibri" panose="020F0502020204030204" pitchFamily="34" charset="0"/>
                <a:ea typeface="Calibri" panose="020F0502020204030204" pitchFamily="34" charset="-122"/>
                <a:cs typeface="Calibri" panose="020F0502020204030204" pitchFamily="34" charset="-120"/>
              </a:rPr>
              <a:t>Validate</a:t>
            </a:r>
            <a:endParaRPr lang="en-US" sz="1000" dirty="0"/>
          </a:p>
        </p:txBody>
      </p:sp>
      <p:sp>
        <p:nvSpPr>
          <p:cNvPr id="28" name="Shape 25"/>
          <p:cNvSpPr/>
          <p:nvPr/>
        </p:nvSpPr>
        <p:spPr>
          <a:xfrm>
            <a:off x="3182112" y="2560320"/>
            <a:ext cx="1353312" cy="2286000"/>
          </a:xfrm>
          <a:prstGeom prst="rect">
            <a:avLst/>
          </a:prstGeom>
          <a:solidFill>
            <a:srgbClr val="FFFFFF"/>
          </a:solidFill>
          <a:ln w="12700">
            <a:solidFill>
              <a:srgbClr val="D97706"/>
            </a:solidFill>
            <a:prstDash val="solid"/>
          </a:ln>
        </p:spPr>
      </p:sp>
      <p:sp>
        <p:nvSpPr>
          <p:cNvPr id="29" name="Shape 26"/>
          <p:cNvSpPr/>
          <p:nvPr/>
        </p:nvSpPr>
        <p:spPr>
          <a:xfrm>
            <a:off x="3182112" y="2560320"/>
            <a:ext cx="1353312" cy="45720"/>
          </a:xfrm>
          <a:prstGeom prst="rect">
            <a:avLst/>
          </a:prstGeom>
          <a:solidFill>
            <a:srgbClr val="D97706"/>
          </a:solidFill>
          <a:ln w="12700">
            <a:solidFill>
              <a:srgbClr val="D97706"/>
            </a:solidFill>
            <a:prstDash val="solid"/>
          </a:ln>
        </p:spPr>
      </p:sp>
      <p:sp>
        <p:nvSpPr>
          <p:cNvPr id="30" name="Text 27"/>
          <p:cNvSpPr/>
          <p:nvPr/>
        </p:nvSpPr>
        <p:spPr>
          <a:xfrm>
            <a:off x="3236976" y="2651760"/>
            <a:ext cx="1243584" cy="2103120"/>
          </a:xfrm>
          <a:prstGeom prst="rect">
            <a:avLst/>
          </a:prstGeom>
          <a:noFill/>
        </p:spPr>
        <p:txBody>
          <a:bodyPr wrap="square" lIns="0" tIns="0" rIns="0" bIns="0" rtlCol="0" anchor="ctr"/>
          <a:lstStyle/>
          <a:p>
            <a:pPr marL="0" indent="0">
              <a:buNone/>
            </a:pPr>
            <a:r>
              <a:rPr lang="en-US" sz="900" dirty="0">
                <a:solidFill>
                  <a:srgbClr val="64748B"/>
                </a:solidFill>
                <a:latin typeface="Calibri" panose="020F0502020204030204" pitchFamily="34" charset="0"/>
                <a:ea typeface="Calibri" panose="020F0502020204030204" pitchFamily="34" charset="-122"/>
                <a:cs typeface="Calibri" panose="020F0502020204030204" pitchFamily="34" charset="-120"/>
              </a:rPr>
              <a:t>Received pushback initiatially.</a:t>
            </a:r>
            <a:endParaRPr lang="en-US" sz="900" dirty="0">
              <a:solidFill>
                <a:srgbClr val="64748B"/>
              </a:solidFill>
              <a:latin typeface="Calibri" panose="020F0502020204030204" pitchFamily="34" charset="0"/>
              <a:ea typeface="Calibri" panose="020F0502020204030204" pitchFamily="34" charset="-122"/>
              <a:cs typeface="Calibri" panose="020F0502020204030204" pitchFamily="34" charset="-120"/>
            </a:endParaRPr>
          </a:p>
          <a:p>
            <a:pPr marL="0" indent="0">
              <a:buNone/>
            </a:pPr>
            <a:r>
              <a:rPr lang="en-US" sz="900" dirty="0">
                <a:solidFill>
                  <a:srgbClr val="64748B"/>
                </a:solidFill>
                <a:latin typeface="Calibri" panose="020F0502020204030204" pitchFamily="34" charset="0"/>
                <a:ea typeface="Calibri" panose="020F0502020204030204" pitchFamily="34" charset="-122"/>
                <a:cs typeface="Calibri" panose="020F0502020204030204" pitchFamily="34" charset="-120"/>
              </a:rPr>
              <a:t>Thus, built mockup design</a:t>
            </a:r>
            <a:endParaRPr lang="en-US" sz="900" dirty="0"/>
          </a:p>
          <a:p>
            <a:pPr marL="0" indent="0">
              <a:buNone/>
            </a:pPr>
            <a:r>
              <a:rPr lang="en-US" sz="900" dirty="0">
                <a:solidFill>
                  <a:srgbClr val="64748B"/>
                </a:solidFill>
                <a:latin typeface="Calibri" panose="020F0502020204030204" pitchFamily="34" charset="0"/>
                <a:ea typeface="Calibri" panose="020F0502020204030204" pitchFamily="34" charset="-122"/>
                <a:cs typeface="Calibri" panose="020F0502020204030204" pitchFamily="34" charset="-120"/>
              </a:rPr>
              <a:t>Ran scenarios with</a:t>
            </a:r>
            <a:endParaRPr lang="en-US" sz="900" dirty="0"/>
          </a:p>
          <a:p>
            <a:pPr marL="0" indent="0">
              <a:buNone/>
            </a:pPr>
            <a:r>
              <a:rPr lang="en-US" sz="900" dirty="0">
                <a:solidFill>
                  <a:srgbClr val="64748B"/>
                </a:solidFill>
                <a:latin typeface="Calibri" panose="020F0502020204030204" pitchFamily="34" charset="0"/>
                <a:ea typeface="Calibri" panose="020F0502020204030204" pitchFamily="34" charset="-122"/>
                <a:cs typeface="Calibri" panose="020F0502020204030204" pitchFamily="34" charset="-120"/>
              </a:rPr>
              <a:t>the Client</a:t>
            </a:r>
            <a:endParaRPr lang="en-US" sz="900" dirty="0"/>
          </a:p>
        </p:txBody>
      </p:sp>
      <p:sp>
        <p:nvSpPr>
          <p:cNvPr id="31" name="Shape 28"/>
          <p:cNvSpPr/>
          <p:nvPr/>
        </p:nvSpPr>
        <p:spPr>
          <a:xfrm>
            <a:off x="4937760" y="1499616"/>
            <a:ext cx="566928" cy="566928"/>
          </a:xfrm>
          <a:prstGeom prst="ellipse">
            <a:avLst/>
          </a:prstGeom>
          <a:solidFill>
            <a:srgbClr val="059669"/>
          </a:solidFill>
          <a:ln w="12700">
            <a:solidFill>
              <a:srgbClr val="059669"/>
            </a:solidFill>
            <a:prstDash val="solid"/>
          </a:ln>
        </p:spPr>
      </p:sp>
      <p:sp>
        <p:nvSpPr>
          <p:cNvPr id="32" name="Text 29"/>
          <p:cNvSpPr/>
          <p:nvPr/>
        </p:nvSpPr>
        <p:spPr>
          <a:xfrm>
            <a:off x="4937760" y="1499616"/>
            <a:ext cx="566928" cy="566928"/>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1300" dirty="0"/>
          </a:p>
        </p:txBody>
      </p:sp>
      <p:sp>
        <p:nvSpPr>
          <p:cNvPr id="33" name="Text 30"/>
          <p:cNvSpPr/>
          <p:nvPr/>
        </p:nvSpPr>
        <p:spPr>
          <a:xfrm>
            <a:off x="4626864" y="2157984"/>
            <a:ext cx="1353312" cy="347472"/>
          </a:xfrm>
          <a:prstGeom prst="rect">
            <a:avLst/>
          </a:prstGeom>
          <a:noFill/>
        </p:spPr>
        <p:txBody>
          <a:bodyPr wrap="square" lIns="0" tIns="0" rIns="0" bIns="0" rtlCol="0" anchor="ctr"/>
          <a:lstStyle/>
          <a:p>
            <a:pPr marL="0" indent="0" algn="ctr">
              <a:buNone/>
            </a:pPr>
            <a:r>
              <a:rPr lang="en-US" sz="1000" b="1" dirty="0">
                <a:solidFill>
                  <a:srgbClr val="059669"/>
                </a:solidFill>
                <a:latin typeface="Calibri" panose="020F0502020204030204" pitchFamily="34" charset="0"/>
                <a:ea typeface="Calibri" panose="020F0502020204030204" pitchFamily="34" charset="-122"/>
                <a:cs typeface="Calibri" panose="020F0502020204030204" pitchFamily="34" charset="-120"/>
              </a:rPr>
              <a:t>Refine &amp; Align</a:t>
            </a:r>
            <a:endParaRPr lang="en-US" sz="1000" dirty="0"/>
          </a:p>
        </p:txBody>
      </p:sp>
      <p:sp>
        <p:nvSpPr>
          <p:cNvPr id="34" name="Shape 31"/>
          <p:cNvSpPr/>
          <p:nvPr/>
        </p:nvSpPr>
        <p:spPr>
          <a:xfrm>
            <a:off x="4626864" y="2560320"/>
            <a:ext cx="1353312" cy="2286000"/>
          </a:xfrm>
          <a:prstGeom prst="rect">
            <a:avLst/>
          </a:prstGeom>
          <a:solidFill>
            <a:srgbClr val="FFFFFF"/>
          </a:solidFill>
          <a:ln w="12700">
            <a:solidFill>
              <a:srgbClr val="059669"/>
            </a:solidFill>
            <a:prstDash val="solid"/>
          </a:ln>
        </p:spPr>
      </p:sp>
      <p:sp>
        <p:nvSpPr>
          <p:cNvPr id="35" name="Shape 32"/>
          <p:cNvSpPr/>
          <p:nvPr/>
        </p:nvSpPr>
        <p:spPr>
          <a:xfrm>
            <a:off x="4626864" y="2560320"/>
            <a:ext cx="1353312" cy="45720"/>
          </a:xfrm>
          <a:prstGeom prst="rect">
            <a:avLst/>
          </a:prstGeom>
          <a:solidFill>
            <a:srgbClr val="059669"/>
          </a:solidFill>
          <a:ln w="12700">
            <a:solidFill>
              <a:srgbClr val="059669"/>
            </a:solidFill>
            <a:prstDash val="solid"/>
          </a:ln>
        </p:spPr>
      </p:sp>
      <p:sp>
        <p:nvSpPr>
          <p:cNvPr id="36" name="Text 33"/>
          <p:cNvSpPr/>
          <p:nvPr/>
        </p:nvSpPr>
        <p:spPr>
          <a:xfrm>
            <a:off x="4681728" y="2651760"/>
            <a:ext cx="1243584" cy="2103120"/>
          </a:xfrm>
          <a:prstGeom prst="rect">
            <a:avLst/>
          </a:prstGeom>
          <a:noFill/>
        </p:spPr>
        <p:txBody>
          <a:bodyPr wrap="square" lIns="0" tIns="0" rIns="0" bIns="0" rtlCol="0" anchor="ctr"/>
          <a:lstStyle/>
          <a:p>
            <a:pPr marL="0" indent="0">
              <a:buNone/>
            </a:pPr>
            <a:r>
              <a:rPr lang="en-US" sz="900" dirty="0">
                <a:solidFill>
                  <a:srgbClr val="64748B"/>
                </a:solidFill>
                <a:latin typeface="Calibri" panose="020F0502020204030204" pitchFamily="34" charset="0"/>
                <a:ea typeface="Calibri" panose="020F0502020204030204" pitchFamily="34" charset="-122"/>
                <a:cs typeface="Calibri" panose="020F0502020204030204" pitchFamily="34" charset="-120"/>
              </a:rPr>
              <a:t>Tested with multiple</a:t>
            </a:r>
            <a:endParaRPr lang="en-US" sz="900" dirty="0"/>
          </a:p>
          <a:p>
            <a:pPr marL="0" indent="0">
              <a:buNone/>
            </a:pPr>
            <a:r>
              <a:rPr lang="en-US" sz="900" dirty="0">
                <a:solidFill>
                  <a:srgbClr val="64748B"/>
                </a:solidFill>
                <a:latin typeface="Calibri" panose="020F0502020204030204" pitchFamily="34" charset="0"/>
                <a:ea typeface="Calibri" panose="020F0502020204030204" pitchFamily="34" charset="-122"/>
                <a:cs typeface="Calibri" panose="020F0502020204030204" pitchFamily="34" charset="-120"/>
              </a:rPr>
              <a:t>customers + internal</a:t>
            </a:r>
            <a:endParaRPr lang="en-US" sz="900" dirty="0"/>
          </a:p>
          <a:p>
            <a:pPr marL="0" indent="0">
              <a:buNone/>
            </a:pPr>
            <a:r>
              <a:rPr lang="en-US" sz="900" dirty="0">
                <a:solidFill>
                  <a:srgbClr val="64748B"/>
                </a:solidFill>
                <a:latin typeface="Calibri" panose="020F0502020204030204" pitchFamily="34" charset="0"/>
                <a:ea typeface="Calibri" panose="020F0502020204030204" pitchFamily="34" charset="-122"/>
                <a:cs typeface="Calibri" panose="020F0502020204030204" pitchFamily="34" charset="-120"/>
              </a:rPr>
              <a:t>HR team</a:t>
            </a:r>
            <a:endParaRPr lang="en-US" sz="900" dirty="0"/>
          </a:p>
          <a:p>
            <a:pPr marL="0" indent="0">
              <a:buNone/>
            </a:pPr>
            <a:r>
              <a:rPr lang="en-US" sz="900" dirty="0">
                <a:solidFill>
                  <a:srgbClr val="64748B"/>
                </a:solidFill>
                <a:latin typeface="Calibri" panose="020F0502020204030204" pitchFamily="34" charset="0"/>
                <a:ea typeface="Calibri" panose="020F0502020204030204" pitchFamily="34" charset="-122"/>
                <a:cs typeface="Calibri" panose="020F0502020204030204" pitchFamily="34" charset="-120"/>
              </a:rPr>
              <a:t>Client approved</a:t>
            </a:r>
            <a:endParaRPr lang="en-US" sz="900" dirty="0"/>
          </a:p>
        </p:txBody>
      </p:sp>
      <p:sp>
        <p:nvSpPr>
          <p:cNvPr id="37" name="Shape 34"/>
          <p:cNvSpPr/>
          <p:nvPr/>
        </p:nvSpPr>
        <p:spPr>
          <a:xfrm>
            <a:off x="6382512" y="1499616"/>
            <a:ext cx="566928" cy="566928"/>
          </a:xfrm>
          <a:prstGeom prst="ellipse">
            <a:avLst/>
          </a:prstGeom>
          <a:solidFill>
            <a:srgbClr val="1B3560"/>
          </a:solidFill>
          <a:ln w="12700">
            <a:solidFill>
              <a:srgbClr val="2A7D8E"/>
            </a:solidFill>
            <a:prstDash val="solid"/>
          </a:ln>
        </p:spPr>
      </p:sp>
      <p:sp>
        <p:nvSpPr>
          <p:cNvPr id="38" name="Text 35"/>
          <p:cNvSpPr/>
          <p:nvPr/>
        </p:nvSpPr>
        <p:spPr>
          <a:xfrm>
            <a:off x="6382512" y="1499616"/>
            <a:ext cx="566928" cy="566928"/>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5</a:t>
            </a:r>
            <a:endParaRPr lang="en-US" sz="1300" dirty="0"/>
          </a:p>
        </p:txBody>
      </p:sp>
      <p:sp>
        <p:nvSpPr>
          <p:cNvPr id="39" name="Text 36"/>
          <p:cNvSpPr/>
          <p:nvPr/>
        </p:nvSpPr>
        <p:spPr>
          <a:xfrm>
            <a:off x="6071616" y="2157984"/>
            <a:ext cx="1353312" cy="347472"/>
          </a:xfrm>
          <a:prstGeom prst="rect">
            <a:avLst/>
          </a:prstGeom>
          <a:noFill/>
        </p:spPr>
        <p:txBody>
          <a:bodyPr wrap="square" lIns="0" tIns="0" rIns="0" bIns="0" rtlCol="0" anchor="ctr"/>
          <a:lstStyle/>
          <a:p>
            <a:pPr marL="0" indent="0" algn="ctr">
              <a:buNone/>
            </a:pPr>
            <a:r>
              <a:rPr lang="en-US" sz="1000" b="1" dirty="0">
                <a:solidFill>
                  <a:srgbClr val="1B3560"/>
                </a:solidFill>
                <a:latin typeface="Calibri" panose="020F0502020204030204" pitchFamily="34" charset="0"/>
                <a:ea typeface="Calibri" panose="020F0502020204030204" pitchFamily="34" charset="-122"/>
                <a:cs typeface="Calibri" panose="020F0502020204030204" pitchFamily="34" charset="-120"/>
              </a:rPr>
              <a:t>Build &amp; Test</a:t>
            </a:r>
            <a:endParaRPr lang="en-US" sz="1000" dirty="0"/>
          </a:p>
        </p:txBody>
      </p:sp>
      <p:sp>
        <p:nvSpPr>
          <p:cNvPr id="40" name="Shape 37"/>
          <p:cNvSpPr/>
          <p:nvPr/>
        </p:nvSpPr>
        <p:spPr>
          <a:xfrm>
            <a:off x="6071616" y="2560320"/>
            <a:ext cx="1353312" cy="2286000"/>
          </a:xfrm>
          <a:prstGeom prst="rect">
            <a:avLst/>
          </a:prstGeom>
          <a:solidFill>
            <a:srgbClr val="FFFFFF"/>
          </a:solidFill>
          <a:ln w="12700">
            <a:solidFill>
              <a:srgbClr val="EEF2F7"/>
            </a:solidFill>
            <a:prstDash val="solid"/>
          </a:ln>
        </p:spPr>
      </p:sp>
      <p:sp>
        <p:nvSpPr>
          <p:cNvPr id="41" name="Shape 38"/>
          <p:cNvSpPr/>
          <p:nvPr/>
        </p:nvSpPr>
        <p:spPr>
          <a:xfrm>
            <a:off x="6071616" y="2560320"/>
            <a:ext cx="1353312" cy="45720"/>
          </a:xfrm>
          <a:prstGeom prst="rect">
            <a:avLst/>
          </a:prstGeom>
          <a:solidFill>
            <a:srgbClr val="2A7D8E"/>
          </a:solidFill>
          <a:ln w="12700">
            <a:solidFill>
              <a:srgbClr val="2A7D8E"/>
            </a:solidFill>
            <a:prstDash val="solid"/>
          </a:ln>
        </p:spPr>
      </p:sp>
      <p:sp>
        <p:nvSpPr>
          <p:cNvPr id="42" name="Text 39"/>
          <p:cNvSpPr/>
          <p:nvPr/>
        </p:nvSpPr>
        <p:spPr>
          <a:xfrm>
            <a:off x="6126480" y="2651760"/>
            <a:ext cx="1243584" cy="2103120"/>
          </a:xfrm>
          <a:prstGeom prst="rect">
            <a:avLst/>
          </a:prstGeom>
          <a:noFill/>
        </p:spPr>
        <p:txBody>
          <a:bodyPr wrap="square" lIns="0" tIns="0" rIns="0" bIns="0" rtlCol="0" anchor="ctr"/>
          <a:lstStyle/>
          <a:p>
            <a:pPr marL="0" indent="0">
              <a:buNone/>
            </a:pPr>
            <a:r>
              <a:rPr lang="en-US" sz="900" dirty="0">
                <a:solidFill>
                  <a:srgbClr val="64748B"/>
                </a:solidFill>
                <a:latin typeface="Calibri" panose="020F0502020204030204" pitchFamily="34" charset="0"/>
                <a:ea typeface="Calibri" panose="020F0502020204030204" pitchFamily="34" charset="-122"/>
                <a:cs typeface="Calibri" panose="020F0502020204030204" pitchFamily="34" charset="-120"/>
              </a:rPr>
              <a:t>Led squad of 4–6</a:t>
            </a:r>
            <a:endParaRPr lang="en-US" sz="900" dirty="0"/>
          </a:p>
          <a:p>
            <a:pPr marL="0" indent="0">
              <a:buNone/>
            </a:pPr>
            <a:r>
              <a:rPr lang="en-US" sz="900" dirty="0">
                <a:solidFill>
                  <a:srgbClr val="64748B"/>
                </a:solidFill>
                <a:latin typeface="Calibri" panose="020F0502020204030204" pitchFamily="34" charset="0"/>
                <a:ea typeface="Calibri" panose="020F0502020204030204" pitchFamily="34" charset="-122"/>
                <a:cs typeface="Calibri" panose="020F0502020204030204" pitchFamily="34" charset="-120"/>
              </a:rPr>
              <a:t>Built trigger engine,</a:t>
            </a:r>
            <a:endParaRPr lang="en-US" sz="900" dirty="0"/>
          </a:p>
          <a:p>
            <a:pPr marL="0" indent="0">
              <a:buNone/>
            </a:pPr>
            <a:r>
              <a:rPr lang="en-US" sz="900" dirty="0">
                <a:solidFill>
                  <a:srgbClr val="64748B"/>
                </a:solidFill>
                <a:latin typeface="Calibri" panose="020F0502020204030204" pitchFamily="34" charset="0"/>
                <a:ea typeface="Calibri" panose="020F0502020204030204" pitchFamily="34" charset="-122"/>
                <a:cs typeface="Calibri" panose="020F0502020204030204" pitchFamily="34" charset="-120"/>
              </a:rPr>
              <a:t>approval layers,</a:t>
            </a:r>
            <a:endParaRPr lang="en-US" sz="900" dirty="0"/>
          </a:p>
          <a:p>
            <a:pPr marL="0" indent="0">
              <a:buNone/>
            </a:pPr>
            <a:r>
              <a:rPr lang="en-US" sz="900" dirty="0">
                <a:solidFill>
                  <a:srgbClr val="64748B"/>
                </a:solidFill>
                <a:latin typeface="Calibri" panose="020F0502020204030204" pitchFamily="34" charset="0"/>
                <a:ea typeface="Calibri" panose="020F0502020204030204" pitchFamily="34" charset="-122"/>
                <a:cs typeface="Calibri" panose="020F0502020204030204" pitchFamily="34" charset="-120"/>
              </a:rPr>
              <a:t>auto HRMS sync</a:t>
            </a:r>
            <a:endParaRPr lang="en-US" sz="900" dirty="0"/>
          </a:p>
        </p:txBody>
      </p:sp>
      <p:sp>
        <p:nvSpPr>
          <p:cNvPr id="43" name="Shape 40"/>
          <p:cNvSpPr/>
          <p:nvPr/>
        </p:nvSpPr>
        <p:spPr>
          <a:xfrm>
            <a:off x="7827264" y="1499616"/>
            <a:ext cx="566928" cy="566928"/>
          </a:xfrm>
          <a:prstGeom prst="ellipse">
            <a:avLst/>
          </a:prstGeom>
          <a:solidFill>
            <a:srgbClr val="1B3560"/>
          </a:solidFill>
          <a:ln w="12700">
            <a:solidFill>
              <a:srgbClr val="2A7D8E"/>
            </a:solidFill>
            <a:prstDash val="solid"/>
          </a:ln>
        </p:spPr>
      </p:sp>
      <p:sp>
        <p:nvSpPr>
          <p:cNvPr id="44" name="Text 41"/>
          <p:cNvSpPr/>
          <p:nvPr/>
        </p:nvSpPr>
        <p:spPr>
          <a:xfrm>
            <a:off x="7827264" y="1499616"/>
            <a:ext cx="566928" cy="566928"/>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6</a:t>
            </a:r>
            <a:endParaRPr lang="en-US" sz="1300" dirty="0"/>
          </a:p>
        </p:txBody>
      </p:sp>
      <p:sp>
        <p:nvSpPr>
          <p:cNvPr id="45" name="Text 42"/>
          <p:cNvSpPr/>
          <p:nvPr/>
        </p:nvSpPr>
        <p:spPr>
          <a:xfrm>
            <a:off x="7516368" y="2157984"/>
            <a:ext cx="1353312" cy="347472"/>
          </a:xfrm>
          <a:prstGeom prst="rect">
            <a:avLst/>
          </a:prstGeom>
          <a:noFill/>
        </p:spPr>
        <p:txBody>
          <a:bodyPr wrap="square" lIns="0" tIns="0" rIns="0" bIns="0" rtlCol="0" anchor="ctr"/>
          <a:lstStyle/>
          <a:p>
            <a:pPr marL="0" indent="0" algn="ctr">
              <a:buNone/>
            </a:pPr>
            <a:r>
              <a:rPr lang="en-US" sz="1000" b="1" dirty="0">
                <a:solidFill>
                  <a:srgbClr val="1B3560"/>
                </a:solidFill>
                <a:latin typeface="Calibri" panose="020F0502020204030204" pitchFamily="34" charset="0"/>
                <a:ea typeface="Calibri" panose="020F0502020204030204" pitchFamily="34" charset="-122"/>
                <a:cs typeface="Calibri" panose="020F0502020204030204" pitchFamily="34" charset="-120"/>
              </a:rPr>
              <a:t>Launch &amp; Tier</a:t>
            </a:r>
            <a:endParaRPr lang="en-US" sz="1000" dirty="0"/>
          </a:p>
        </p:txBody>
      </p:sp>
      <p:sp>
        <p:nvSpPr>
          <p:cNvPr id="46" name="Shape 43"/>
          <p:cNvSpPr/>
          <p:nvPr/>
        </p:nvSpPr>
        <p:spPr>
          <a:xfrm>
            <a:off x="7516368" y="2560320"/>
            <a:ext cx="1353312" cy="2286000"/>
          </a:xfrm>
          <a:prstGeom prst="rect">
            <a:avLst/>
          </a:prstGeom>
          <a:solidFill>
            <a:srgbClr val="FFFFFF"/>
          </a:solidFill>
          <a:ln w="12700">
            <a:solidFill>
              <a:srgbClr val="EEF2F7"/>
            </a:solidFill>
            <a:prstDash val="solid"/>
          </a:ln>
        </p:spPr>
      </p:sp>
      <p:sp>
        <p:nvSpPr>
          <p:cNvPr id="47" name="Shape 44"/>
          <p:cNvSpPr/>
          <p:nvPr/>
        </p:nvSpPr>
        <p:spPr>
          <a:xfrm>
            <a:off x="7516368" y="2560320"/>
            <a:ext cx="1353312" cy="45720"/>
          </a:xfrm>
          <a:prstGeom prst="rect">
            <a:avLst/>
          </a:prstGeom>
          <a:solidFill>
            <a:srgbClr val="2A7D8E"/>
          </a:solidFill>
          <a:ln w="12700">
            <a:solidFill>
              <a:srgbClr val="2A7D8E"/>
            </a:solidFill>
            <a:prstDash val="solid"/>
          </a:ln>
        </p:spPr>
      </p:sp>
      <p:sp>
        <p:nvSpPr>
          <p:cNvPr id="48" name="Text 45"/>
          <p:cNvSpPr/>
          <p:nvPr/>
        </p:nvSpPr>
        <p:spPr>
          <a:xfrm>
            <a:off x="7571232" y="2651760"/>
            <a:ext cx="1243584" cy="2103120"/>
          </a:xfrm>
          <a:prstGeom prst="rect">
            <a:avLst/>
          </a:prstGeom>
          <a:noFill/>
        </p:spPr>
        <p:txBody>
          <a:bodyPr wrap="square" lIns="0" tIns="0" rIns="0" bIns="0" rtlCol="0" anchor="ctr"/>
          <a:lstStyle/>
          <a:p>
            <a:pPr marL="0" indent="0">
              <a:buNone/>
            </a:pPr>
            <a:r>
              <a:rPr lang="en-US" sz="900" dirty="0">
                <a:solidFill>
                  <a:srgbClr val="64748B"/>
                </a:solidFill>
                <a:latin typeface="Calibri" panose="020F0502020204030204" pitchFamily="34" charset="0"/>
                <a:ea typeface="Calibri" panose="020F0502020204030204" pitchFamily="34" charset="-122"/>
                <a:cs typeface="Calibri" panose="020F0502020204030204" pitchFamily="34" charset="-120"/>
              </a:rPr>
              <a:t>Designed tier model</a:t>
            </a:r>
            <a:endParaRPr lang="en-US" sz="900" dirty="0"/>
          </a:p>
          <a:p>
            <a:pPr marL="0" indent="0">
              <a:buNone/>
            </a:pPr>
            <a:r>
              <a:rPr lang="en-US" sz="900" dirty="0">
                <a:solidFill>
                  <a:srgbClr val="64748B"/>
                </a:solidFill>
                <a:latin typeface="Calibri" panose="020F0502020204030204" pitchFamily="34" charset="0"/>
                <a:ea typeface="Calibri" panose="020F0502020204030204" pitchFamily="34" charset="-122"/>
                <a:cs typeface="Calibri" panose="020F0502020204030204" pitchFamily="34" charset="-120"/>
              </a:rPr>
              <a:t>Basic → Premium</a:t>
            </a:r>
            <a:endParaRPr lang="en-US" sz="900" dirty="0"/>
          </a:p>
          <a:p>
            <a:pPr marL="0" indent="0">
              <a:buNone/>
            </a:pPr>
            <a:r>
              <a:rPr lang="en-US" sz="900" dirty="0">
                <a:solidFill>
                  <a:srgbClr val="64748B"/>
                </a:solidFill>
                <a:latin typeface="Calibri" panose="020F0502020204030204" pitchFamily="34" charset="0"/>
                <a:ea typeface="Calibri" panose="020F0502020204030204" pitchFamily="34" charset="-122"/>
                <a:cs typeface="Calibri" panose="020F0502020204030204" pitchFamily="34" charset="-120"/>
              </a:rPr>
              <a:t>Rolled out to all</a:t>
            </a:r>
            <a:endParaRPr lang="en-US" sz="900" dirty="0"/>
          </a:p>
          <a:p>
            <a:pPr marL="0" indent="0">
              <a:buNone/>
            </a:pPr>
            <a:r>
              <a:rPr lang="en-US" sz="900" dirty="0">
                <a:solidFill>
                  <a:srgbClr val="64748B"/>
                </a:solidFill>
                <a:latin typeface="Calibri" panose="020F0502020204030204" pitchFamily="34" charset="0"/>
                <a:ea typeface="Calibri" panose="020F0502020204030204" pitchFamily="34" charset="-122"/>
                <a:cs typeface="Calibri" panose="020F0502020204030204" pitchFamily="34" charset="-120"/>
              </a:rPr>
              <a:t>clients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B3560"/>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A7D8E"/>
          </a:solidFill>
          <a:ln w="12700">
            <a:solidFill>
              <a:srgbClr val="2A7D8E"/>
            </a:solidFill>
            <a:prstDash val="solid"/>
          </a:ln>
        </p:spPr>
      </p:sp>
      <p:sp>
        <p:nvSpPr>
          <p:cNvPr id="3" name="Shape 1"/>
          <p:cNvSpPr/>
          <p:nvPr/>
        </p:nvSpPr>
        <p:spPr>
          <a:xfrm>
            <a:off x="274320" y="201168"/>
            <a:ext cx="457200" cy="256032"/>
          </a:xfrm>
          <a:prstGeom prst="rect">
            <a:avLst/>
          </a:prstGeom>
          <a:solidFill>
            <a:srgbClr val="FFFFFF"/>
          </a:solidFill>
          <a:ln w="12700">
            <a:solidFill>
              <a:srgbClr val="FFFFFF"/>
            </a:solidFill>
            <a:prstDash val="solid"/>
          </a:ln>
        </p:spPr>
      </p:sp>
      <p:sp>
        <p:nvSpPr>
          <p:cNvPr id="4" name="Text 2"/>
          <p:cNvSpPr/>
          <p:nvPr/>
        </p:nvSpPr>
        <p:spPr>
          <a:xfrm>
            <a:off x="274320" y="201168"/>
            <a:ext cx="457200" cy="256032"/>
          </a:xfrm>
          <a:prstGeom prst="rect">
            <a:avLst/>
          </a:prstGeom>
          <a:noFill/>
        </p:spPr>
        <p:txBody>
          <a:bodyPr wrap="square" lIns="0" tIns="0" rIns="0" bIns="0" rtlCol="0" anchor="ctr"/>
          <a:lstStyle/>
          <a:p>
            <a:pPr marL="0" indent="0" algn="ctr">
              <a:buNone/>
            </a:pPr>
            <a:r>
              <a:rPr lang="en-US" sz="1000" b="1" dirty="0">
                <a:solidFill>
                  <a:srgbClr val="1B3560"/>
                </a:solidFill>
                <a:latin typeface="Calibri" panose="020F0502020204030204" pitchFamily="34" charset="0"/>
                <a:ea typeface="Calibri" panose="020F0502020204030204" pitchFamily="34" charset="-122"/>
                <a:cs typeface="Calibri" panose="020F0502020204030204" pitchFamily="34" charset="-120"/>
              </a:rPr>
              <a:t>04</a:t>
            </a:r>
            <a:endParaRPr lang="en-US" sz="1000" dirty="0"/>
          </a:p>
        </p:txBody>
      </p:sp>
      <p:sp>
        <p:nvSpPr>
          <p:cNvPr id="5" name="Text 3"/>
          <p:cNvSpPr/>
          <p:nvPr/>
        </p:nvSpPr>
        <p:spPr>
          <a:xfrm>
            <a:off x="868680" y="164592"/>
            <a:ext cx="8046720" cy="347472"/>
          </a:xfrm>
          <a:prstGeom prst="rect">
            <a:avLst/>
          </a:prstGeom>
          <a:noFill/>
        </p:spPr>
        <p:txBody>
          <a:bodyPr wrap="square" lIns="0" tIns="0" rIns="0" bIns="0" rtlCol="0" anchor="ctr"/>
          <a:lstStyle/>
          <a:p>
            <a:pPr marL="0" indent="0">
              <a:buNone/>
            </a:pPr>
            <a:r>
              <a:rPr lang="en-US" sz="2200" b="1" dirty="0">
                <a:solidFill>
                  <a:srgbClr val="FFFFFF"/>
                </a:solidFill>
                <a:latin typeface="Calibri" panose="020F0502020204030204" pitchFamily="34" charset="0"/>
                <a:ea typeface="Calibri" panose="020F0502020204030204" pitchFamily="34" charset="-122"/>
                <a:cs typeface="Calibri" panose="020F0502020204030204" pitchFamily="34" charset="-120"/>
              </a:rPr>
              <a:t>Validation — Turning Pushback Into Proof</a:t>
            </a:r>
            <a:endParaRPr lang="en-US" sz="2200" dirty="0"/>
          </a:p>
        </p:txBody>
      </p:sp>
      <p:sp>
        <p:nvSpPr>
          <p:cNvPr id="6" name="Text 4"/>
          <p:cNvSpPr/>
          <p:nvPr/>
        </p:nvSpPr>
        <p:spPr>
          <a:xfrm>
            <a:off x="274320" y="640080"/>
            <a:ext cx="8595360" cy="347472"/>
          </a:xfrm>
          <a:prstGeom prst="rect">
            <a:avLst/>
          </a:prstGeom>
          <a:noFill/>
        </p:spPr>
        <p:txBody>
          <a:bodyPr wrap="square" lIns="0" tIns="0" rIns="0" bIns="0" rtlCol="0" anchor="ctr"/>
          <a:lstStyle/>
          <a:p>
            <a:pPr marL="0" indent="0">
              <a:buNone/>
            </a:pPr>
            <a:r>
              <a:rPr lang="en-US" sz="1200" dirty="0">
                <a:solidFill>
                  <a:srgbClr val="A8C4D8"/>
                </a:solidFill>
                <a:latin typeface="Calibri" panose="020F0502020204030204" pitchFamily="34" charset="0"/>
                <a:ea typeface="Calibri" panose="020F0502020204030204" pitchFamily="34" charset="-122"/>
                <a:cs typeface="Calibri" panose="020F0502020204030204" pitchFamily="34" charset="-120"/>
              </a:rPr>
              <a:t>The client pushed back — our proposed workflow didn’t match their mental model. Here’s how we resolved it.</a:t>
            </a:r>
            <a:endParaRPr lang="en-US" sz="1200" dirty="0"/>
          </a:p>
        </p:txBody>
      </p:sp>
      <p:sp>
        <p:nvSpPr>
          <p:cNvPr id="7" name="Shape 5"/>
          <p:cNvSpPr/>
          <p:nvPr/>
        </p:nvSpPr>
        <p:spPr>
          <a:xfrm>
            <a:off x="274320" y="1170432"/>
            <a:ext cx="8595360" cy="1115568"/>
          </a:xfrm>
          <a:prstGeom prst="rect">
            <a:avLst/>
          </a:prstGeom>
          <a:solidFill>
            <a:srgbClr val="1E3A5F"/>
          </a:solidFill>
          <a:ln w="12700">
            <a:solidFill>
              <a:srgbClr val="D97706"/>
            </a:solidFill>
            <a:prstDash val="solid"/>
          </a:ln>
        </p:spPr>
      </p:sp>
      <p:sp>
        <p:nvSpPr>
          <p:cNvPr id="8" name="Shape 6"/>
          <p:cNvSpPr/>
          <p:nvPr/>
        </p:nvSpPr>
        <p:spPr>
          <a:xfrm>
            <a:off x="384048" y="1417320"/>
            <a:ext cx="566928" cy="566928"/>
          </a:xfrm>
          <a:prstGeom prst="ellipse">
            <a:avLst/>
          </a:prstGeom>
          <a:solidFill>
            <a:srgbClr val="D97706"/>
          </a:solidFill>
          <a:ln w="12700">
            <a:solidFill>
              <a:srgbClr val="D97706"/>
            </a:solidFill>
            <a:prstDash val="solid"/>
          </a:ln>
        </p:spPr>
      </p:sp>
      <p:sp>
        <p:nvSpPr>
          <p:cNvPr id="9" name="Text 7"/>
          <p:cNvSpPr/>
          <p:nvPr/>
        </p:nvSpPr>
        <p:spPr>
          <a:xfrm>
            <a:off x="384048" y="1417320"/>
            <a:ext cx="566928" cy="566928"/>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600" dirty="0"/>
          </a:p>
        </p:txBody>
      </p:sp>
      <p:sp>
        <p:nvSpPr>
          <p:cNvPr id="10" name="Text 8"/>
          <p:cNvSpPr/>
          <p:nvPr/>
        </p:nvSpPr>
        <p:spPr>
          <a:xfrm>
            <a:off x="1078992" y="1261872"/>
            <a:ext cx="7589520" cy="329184"/>
          </a:xfrm>
          <a:prstGeom prst="rect">
            <a:avLst/>
          </a:prstGeom>
          <a:noFill/>
        </p:spPr>
        <p:txBody>
          <a:bodyPr wrap="square" lIns="0" tIns="0" rIns="0" bIns="0" rtlCol="0" anchor="ct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Built a Mockup</a:t>
            </a:r>
            <a:endParaRPr lang="en-US" sz="1300" dirty="0"/>
          </a:p>
        </p:txBody>
      </p:sp>
      <p:sp>
        <p:nvSpPr>
          <p:cNvPr id="11" name="Text 9"/>
          <p:cNvSpPr/>
          <p:nvPr/>
        </p:nvSpPr>
        <p:spPr>
          <a:xfrm>
            <a:off x="1078992" y="1609344"/>
            <a:ext cx="7589520" cy="594360"/>
          </a:xfrm>
          <a:prstGeom prst="rect">
            <a:avLst/>
          </a:prstGeom>
          <a:noFill/>
        </p:spPr>
        <p:txBody>
          <a:bodyPr wrap="square" lIns="0" tIns="0" rIns="0" bIns="0" rtlCol="0" anchor="ctr"/>
          <a:lstStyle/>
          <a:p>
            <a:pPr marL="0" indent="0">
              <a:buNone/>
            </a:pPr>
            <a:r>
              <a:rPr lang="en-US" sz="1100" dirty="0">
                <a:solidFill>
                  <a:srgbClr val="B8D0E8"/>
                </a:solidFill>
                <a:latin typeface="Calibri" panose="020F0502020204030204" pitchFamily="34" charset="0"/>
                <a:ea typeface="Calibri" panose="020F0502020204030204" pitchFamily="34" charset="-122"/>
                <a:cs typeface="Calibri" panose="020F0502020204030204" pitchFamily="34" charset="-120"/>
              </a:rPr>
              <a:t>Instead of arguing the case in words, we created a high-fidelity mockup of the proposed workflow — showing the client exactly how their visa and passport renewal process would work end-to-end inside greytHR.</a:t>
            </a:r>
            <a:endParaRPr lang="en-US" sz="1100" dirty="0"/>
          </a:p>
        </p:txBody>
      </p:sp>
      <p:sp>
        <p:nvSpPr>
          <p:cNvPr id="12" name="Shape 10"/>
          <p:cNvSpPr/>
          <p:nvPr/>
        </p:nvSpPr>
        <p:spPr>
          <a:xfrm>
            <a:off x="274320" y="2432304"/>
            <a:ext cx="8595360" cy="1115568"/>
          </a:xfrm>
          <a:prstGeom prst="rect">
            <a:avLst/>
          </a:prstGeom>
          <a:solidFill>
            <a:srgbClr val="1E3A5F"/>
          </a:solidFill>
          <a:ln w="12700">
            <a:solidFill>
              <a:srgbClr val="2A7D8E"/>
            </a:solidFill>
            <a:prstDash val="solid"/>
          </a:ln>
        </p:spPr>
      </p:sp>
      <p:sp>
        <p:nvSpPr>
          <p:cNvPr id="13" name="Shape 11"/>
          <p:cNvSpPr/>
          <p:nvPr/>
        </p:nvSpPr>
        <p:spPr>
          <a:xfrm>
            <a:off x="384048" y="2679192"/>
            <a:ext cx="566928" cy="566928"/>
          </a:xfrm>
          <a:prstGeom prst="ellipse">
            <a:avLst/>
          </a:prstGeom>
          <a:solidFill>
            <a:srgbClr val="2A7D8E"/>
          </a:solidFill>
          <a:ln w="12700">
            <a:solidFill>
              <a:srgbClr val="2A7D8E"/>
            </a:solidFill>
            <a:prstDash val="solid"/>
          </a:ln>
        </p:spPr>
      </p:sp>
      <p:sp>
        <p:nvSpPr>
          <p:cNvPr id="14" name="Text 12"/>
          <p:cNvSpPr/>
          <p:nvPr/>
        </p:nvSpPr>
        <p:spPr>
          <a:xfrm>
            <a:off x="384048" y="2679192"/>
            <a:ext cx="566928" cy="566928"/>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600" dirty="0"/>
          </a:p>
        </p:txBody>
      </p:sp>
      <p:sp>
        <p:nvSpPr>
          <p:cNvPr id="15" name="Text 13"/>
          <p:cNvSpPr/>
          <p:nvPr/>
        </p:nvSpPr>
        <p:spPr>
          <a:xfrm>
            <a:off x="1078992" y="2523744"/>
            <a:ext cx="7589520" cy="329184"/>
          </a:xfrm>
          <a:prstGeom prst="rect">
            <a:avLst/>
          </a:prstGeom>
          <a:noFill/>
        </p:spPr>
        <p:txBody>
          <a:bodyPr wrap="square" lIns="0" tIns="0" rIns="0" bIns="0" rtlCol="0" anchor="ct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Ran Multi-Stakeholder Scenarios</a:t>
            </a:r>
            <a:endParaRPr lang="en-US" sz="1300" dirty="0"/>
          </a:p>
        </p:txBody>
      </p:sp>
      <p:sp>
        <p:nvSpPr>
          <p:cNvPr id="16" name="Text 14"/>
          <p:cNvSpPr/>
          <p:nvPr/>
        </p:nvSpPr>
        <p:spPr>
          <a:xfrm>
            <a:off x="1078992" y="2871216"/>
            <a:ext cx="7589520" cy="594360"/>
          </a:xfrm>
          <a:prstGeom prst="rect">
            <a:avLst/>
          </a:prstGeom>
          <a:noFill/>
        </p:spPr>
        <p:txBody>
          <a:bodyPr wrap="square" lIns="0" tIns="0" rIns="0" bIns="0" rtlCol="0" anchor="ctr"/>
          <a:lstStyle/>
          <a:p>
            <a:pPr marL="0" indent="0">
              <a:buNone/>
            </a:pPr>
            <a:r>
              <a:rPr lang="en-US" sz="1100" dirty="0">
                <a:solidFill>
                  <a:srgbClr val="B8D0E8"/>
                </a:solidFill>
                <a:latin typeface="Calibri" panose="020F0502020204030204" pitchFamily="34" charset="0"/>
                <a:ea typeface="Calibri" panose="020F0502020204030204" pitchFamily="34" charset="-122"/>
                <a:cs typeface="Calibri" panose="020F0502020204030204" pitchFamily="34" charset="-120"/>
              </a:rPr>
              <a:t>We walked the client through real-world scenarios using the mockup. We also tested with other customers and our own internal HR team — identifying gaps and edge cases before a single line of code was written.</a:t>
            </a:r>
            <a:endParaRPr lang="en-US" sz="1100" dirty="0"/>
          </a:p>
        </p:txBody>
      </p:sp>
      <p:sp>
        <p:nvSpPr>
          <p:cNvPr id="17" name="Shape 15"/>
          <p:cNvSpPr/>
          <p:nvPr/>
        </p:nvSpPr>
        <p:spPr>
          <a:xfrm>
            <a:off x="274320" y="3694176"/>
            <a:ext cx="8595360" cy="1115568"/>
          </a:xfrm>
          <a:prstGeom prst="rect">
            <a:avLst/>
          </a:prstGeom>
          <a:solidFill>
            <a:srgbClr val="1E3A5F"/>
          </a:solidFill>
          <a:ln w="12700">
            <a:solidFill>
              <a:srgbClr val="059669"/>
            </a:solidFill>
            <a:prstDash val="solid"/>
          </a:ln>
        </p:spPr>
      </p:sp>
      <p:sp>
        <p:nvSpPr>
          <p:cNvPr id="18" name="Shape 16"/>
          <p:cNvSpPr/>
          <p:nvPr/>
        </p:nvSpPr>
        <p:spPr>
          <a:xfrm>
            <a:off x="384048" y="3941064"/>
            <a:ext cx="566928" cy="566928"/>
          </a:xfrm>
          <a:prstGeom prst="ellipse">
            <a:avLst/>
          </a:prstGeom>
          <a:solidFill>
            <a:srgbClr val="059669"/>
          </a:solidFill>
          <a:ln w="12700">
            <a:solidFill>
              <a:srgbClr val="059669"/>
            </a:solidFill>
            <a:prstDash val="solid"/>
          </a:ln>
        </p:spPr>
      </p:sp>
      <p:sp>
        <p:nvSpPr>
          <p:cNvPr id="19" name="Text 17"/>
          <p:cNvSpPr/>
          <p:nvPr/>
        </p:nvSpPr>
        <p:spPr>
          <a:xfrm>
            <a:off x="384048" y="3941064"/>
            <a:ext cx="566928" cy="566928"/>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600" dirty="0"/>
          </a:p>
        </p:txBody>
      </p:sp>
      <p:sp>
        <p:nvSpPr>
          <p:cNvPr id="20" name="Text 18"/>
          <p:cNvSpPr/>
          <p:nvPr/>
        </p:nvSpPr>
        <p:spPr>
          <a:xfrm>
            <a:off x="1078992" y="3785616"/>
            <a:ext cx="7589520" cy="329184"/>
          </a:xfrm>
          <a:prstGeom prst="rect">
            <a:avLst/>
          </a:prstGeom>
          <a:noFill/>
        </p:spPr>
        <p:txBody>
          <a:bodyPr wrap="square" lIns="0" tIns="0" rIns="0" bIns="0" rtlCol="0" anchor="ct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Client Signed Off</a:t>
            </a:r>
            <a:endParaRPr lang="en-US" sz="1300" dirty="0"/>
          </a:p>
        </p:txBody>
      </p:sp>
      <p:sp>
        <p:nvSpPr>
          <p:cNvPr id="21" name="Text 19"/>
          <p:cNvSpPr/>
          <p:nvPr/>
        </p:nvSpPr>
        <p:spPr>
          <a:xfrm>
            <a:off x="1078992" y="4133088"/>
            <a:ext cx="7589520" cy="594360"/>
          </a:xfrm>
          <a:prstGeom prst="rect">
            <a:avLst/>
          </a:prstGeom>
          <a:noFill/>
        </p:spPr>
        <p:txBody>
          <a:bodyPr wrap="square" lIns="0" tIns="0" rIns="0" bIns="0" rtlCol="0" anchor="ctr"/>
          <a:lstStyle/>
          <a:p>
            <a:pPr marL="0" indent="0">
              <a:buNone/>
            </a:pPr>
            <a:r>
              <a:rPr lang="en-US" sz="1100" dirty="0">
                <a:solidFill>
                  <a:srgbClr val="B8D0E8"/>
                </a:solidFill>
                <a:latin typeface="Calibri" panose="020F0502020204030204" pitchFamily="34" charset="0"/>
                <a:ea typeface="Calibri" panose="020F0502020204030204" pitchFamily="34" charset="-122"/>
                <a:cs typeface="Calibri" panose="020F0502020204030204" pitchFamily="34" charset="-120"/>
              </a:rPr>
              <a:t>After seeing the workflow handle their scenarios accurately and hearing feedback from other users, the client was convinced. The mockup became the blueprint — validated, refined, and ready to build.</a:t>
            </a:r>
            <a:endParaRPr lang="en-US" sz="1100" dirty="0"/>
          </a:p>
        </p:txBody>
      </p:sp>
      <p:sp>
        <p:nvSpPr>
          <p:cNvPr id="22" name="Shape 20"/>
          <p:cNvSpPr/>
          <p:nvPr/>
        </p:nvSpPr>
        <p:spPr>
          <a:xfrm>
            <a:off x="274320" y="4626864"/>
            <a:ext cx="8595360" cy="347472"/>
          </a:xfrm>
          <a:prstGeom prst="rect">
            <a:avLst/>
          </a:prstGeom>
          <a:solidFill>
            <a:srgbClr val="2A7D8E"/>
          </a:solidFill>
          <a:ln w="12700">
            <a:solidFill>
              <a:srgbClr val="2A7D8E"/>
            </a:solidFill>
            <a:prstDash val="solid"/>
          </a:ln>
        </p:spPr>
      </p:sp>
      <p:pic>
        <p:nvPicPr>
          <p:cNvPr id="23" name="Image 0" descr="preencoded.png"/>
          <p:cNvPicPr>
            <a:picLocks noChangeAspect="1"/>
          </p:cNvPicPr>
          <p:nvPr/>
        </p:nvPicPr>
        <p:blipFill>
          <a:blip r:embed="rId1"/>
          <a:stretch>
            <a:fillRect/>
          </a:stretch>
        </p:blipFill>
        <p:spPr>
          <a:xfrm>
            <a:off x="384048" y="4681728"/>
            <a:ext cx="237744" cy="237744"/>
          </a:xfrm>
          <a:prstGeom prst="rect">
            <a:avLst/>
          </a:prstGeom>
        </p:spPr>
      </p:pic>
      <p:sp>
        <p:nvSpPr>
          <p:cNvPr id="24" name="Text 21"/>
          <p:cNvSpPr/>
          <p:nvPr/>
        </p:nvSpPr>
        <p:spPr>
          <a:xfrm>
            <a:off x="694944" y="4663440"/>
            <a:ext cx="8046720" cy="274320"/>
          </a:xfrm>
          <a:prstGeom prst="rect">
            <a:avLst/>
          </a:prstGeom>
          <a:noFill/>
        </p:spPr>
        <p:txBody>
          <a:bodyPr wrap="square" lIns="0" tIns="0" rIns="0" bIns="0" rtlCol="0" anchor="ctr"/>
          <a:lstStyle/>
          <a:p>
            <a:pPr marL="0" indent="0">
              <a:buNone/>
            </a:pPr>
            <a:r>
              <a:rPr lang="en-US" sz="1050" i="1" dirty="0">
                <a:solidFill>
                  <a:srgbClr val="FFFFFF"/>
                </a:solidFill>
                <a:latin typeface="Calibri" panose="020F0502020204030204" pitchFamily="34" charset="0"/>
                <a:ea typeface="Calibri" panose="020F0502020204030204" pitchFamily="34" charset="-122"/>
                <a:cs typeface="Calibri" panose="020F0502020204030204" pitchFamily="34" charset="-120"/>
              </a:rPr>
              <a:t>PM Principle: Never argue a reframe — show it. A mockup does more convincing in 10 minutes than a presentation does in an hour.</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B3560"/>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A7D8E"/>
          </a:solidFill>
          <a:ln w="12700">
            <a:solidFill>
              <a:srgbClr val="2A7D8E"/>
            </a:solidFill>
            <a:prstDash val="solid"/>
          </a:ln>
        </p:spPr>
      </p:sp>
      <p:sp>
        <p:nvSpPr>
          <p:cNvPr id="3" name="Shape 1"/>
          <p:cNvSpPr/>
          <p:nvPr/>
        </p:nvSpPr>
        <p:spPr>
          <a:xfrm>
            <a:off x="274320" y="201168"/>
            <a:ext cx="457200" cy="256032"/>
          </a:xfrm>
          <a:prstGeom prst="rect">
            <a:avLst/>
          </a:prstGeom>
          <a:solidFill>
            <a:srgbClr val="FFFFFF"/>
          </a:solidFill>
          <a:ln w="12700">
            <a:solidFill>
              <a:srgbClr val="FFFFFF"/>
            </a:solidFill>
            <a:prstDash val="solid"/>
          </a:ln>
        </p:spPr>
      </p:sp>
      <p:sp>
        <p:nvSpPr>
          <p:cNvPr id="4" name="Text 2"/>
          <p:cNvSpPr/>
          <p:nvPr/>
        </p:nvSpPr>
        <p:spPr>
          <a:xfrm>
            <a:off x="274320" y="201168"/>
            <a:ext cx="457200" cy="256032"/>
          </a:xfrm>
          <a:prstGeom prst="rect">
            <a:avLst/>
          </a:prstGeom>
          <a:noFill/>
        </p:spPr>
        <p:txBody>
          <a:bodyPr wrap="square" lIns="0" tIns="0" rIns="0" bIns="0" rtlCol="0" anchor="ctr"/>
          <a:lstStyle/>
          <a:p>
            <a:pPr marL="0" indent="0" algn="ctr">
              <a:buNone/>
            </a:pPr>
            <a:r>
              <a:rPr lang="en-US" sz="1000" b="1" dirty="0">
                <a:solidFill>
                  <a:srgbClr val="1B3560"/>
                </a:solidFill>
                <a:latin typeface="Calibri" panose="020F0502020204030204" pitchFamily="34" charset="0"/>
                <a:ea typeface="Calibri" panose="020F0502020204030204" pitchFamily="34" charset="-122"/>
                <a:cs typeface="Calibri" panose="020F0502020204030204" pitchFamily="34" charset="-120"/>
              </a:rPr>
              <a:t>05</a:t>
            </a:r>
            <a:endParaRPr lang="en-US" sz="1000" dirty="0"/>
          </a:p>
        </p:txBody>
      </p:sp>
      <p:sp>
        <p:nvSpPr>
          <p:cNvPr id="5" name="Text 3"/>
          <p:cNvSpPr/>
          <p:nvPr/>
        </p:nvSpPr>
        <p:spPr>
          <a:xfrm>
            <a:off x="868680" y="164592"/>
            <a:ext cx="5486400" cy="347472"/>
          </a:xfrm>
          <a:prstGeom prst="rect">
            <a:avLst/>
          </a:prstGeom>
          <a:noFill/>
        </p:spPr>
        <p:txBody>
          <a:bodyPr wrap="square" lIns="0" tIns="0" rIns="0" bIns="0" rtlCol="0" anchor="ctr"/>
          <a:lstStyle/>
          <a:p>
            <a:pPr marL="0" indent="0">
              <a:buNone/>
            </a:pPr>
            <a:r>
              <a:rPr lang="en-US" sz="2200" b="1" dirty="0">
                <a:solidFill>
                  <a:srgbClr val="FFFFFF"/>
                </a:solidFill>
                <a:latin typeface="Calibri" panose="020F0502020204030204" pitchFamily="34" charset="0"/>
                <a:ea typeface="Calibri" panose="020F0502020204030204" pitchFamily="34" charset="-122"/>
                <a:cs typeface="Calibri" panose="020F0502020204030204" pitchFamily="34" charset="-120"/>
              </a:rPr>
              <a:t>The Solution</a:t>
            </a:r>
            <a:endParaRPr lang="en-US" sz="2200" dirty="0"/>
          </a:p>
        </p:txBody>
      </p:sp>
      <p:sp>
        <p:nvSpPr>
          <p:cNvPr id="6" name="Text 4"/>
          <p:cNvSpPr/>
          <p:nvPr/>
        </p:nvSpPr>
        <p:spPr>
          <a:xfrm>
            <a:off x="274320" y="621792"/>
            <a:ext cx="8595360" cy="347472"/>
          </a:xfrm>
          <a:prstGeom prst="rect">
            <a:avLst/>
          </a:prstGeom>
          <a:noFill/>
        </p:spPr>
        <p:txBody>
          <a:bodyPr wrap="square" lIns="0" tIns="0" rIns="0" bIns="0" rtlCol="0" anchor="ctr"/>
          <a:lstStyle/>
          <a:p>
            <a:pPr marL="0" indent="0">
              <a:buNone/>
            </a:pPr>
            <a:r>
              <a:rPr lang="en-US" sz="1200" dirty="0">
                <a:solidFill>
                  <a:srgbClr val="A8C4D8"/>
                </a:solidFill>
                <a:latin typeface="Calibri" panose="020F0502020204030204" pitchFamily="34" charset="0"/>
                <a:ea typeface="Calibri" panose="020F0502020204030204" pitchFamily="34" charset="-122"/>
                <a:cs typeface="Calibri" panose="020F0502020204030204" pitchFamily="34" charset="-120"/>
              </a:rPr>
              <a:t>A fully customizable, event-triggered workflow engine — set up once, runs automatically forever.</a:t>
            </a:r>
            <a:endParaRPr lang="en-US" sz="1200" dirty="0"/>
          </a:p>
        </p:txBody>
      </p:sp>
      <p:sp>
        <p:nvSpPr>
          <p:cNvPr id="7" name="Shape 5"/>
          <p:cNvSpPr/>
          <p:nvPr/>
        </p:nvSpPr>
        <p:spPr>
          <a:xfrm>
            <a:off x="256032" y="1115568"/>
            <a:ext cx="1572768" cy="1938528"/>
          </a:xfrm>
          <a:prstGeom prst="rect">
            <a:avLst/>
          </a:prstGeom>
          <a:solidFill>
            <a:srgbClr val="1E3A5F"/>
          </a:solidFill>
          <a:ln w="12700">
            <a:solidFill>
              <a:srgbClr val="2A7D8E"/>
            </a:solidFill>
            <a:prstDash val="solid"/>
          </a:ln>
        </p:spPr>
      </p:sp>
      <p:pic>
        <p:nvPicPr>
          <p:cNvPr id="8" name="Image 0" descr="preencoded.png"/>
          <p:cNvPicPr>
            <a:picLocks noChangeAspect="1"/>
          </p:cNvPicPr>
          <p:nvPr/>
        </p:nvPicPr>
        <p:blipFill>
          <a:blip r:embed="rId1"/>
          <a:stretch>
            <a:fillRect/>
          </a:stretch>
        </p:blipFill>
        <p:spPr>
          <a:xfrm>
            <a:off x="795528" y="1234440"/>
            <a:ext cx="475488" cy="475488"/>
          </a:xfrm>
          <a:prstGeom prst="rect">
            <a:avLst/>
          </a:prstGeom>
        </p:spPr>
      </p:pic>
      <p:sp>
        <p:nvSpPr>
          <p:cNvPr id="9" name="Text 6"/>
          <p:cNvSpPr/>
          <p:nvPr/>
        </p:nvSpPr>
        <p:spPr>
          <a:xfrm>
            <a:off x="329184" y="1792224"/>
            <a:ext cx="1426464" cy="1170432"/>
          </a:xfrm>
          <a:prstGeom prst="rect">
            <a:avLst/>
          </a:prstGeom>
          <a:noFill/>
        </p:spPr>
        <p:txBody>
          <a:bodyPr wrap="square" lIns="0" tIns="0" rIns="0" bIns="0" rtlCol="0" anchor="ctr"/>
          <a:lstStyle/>
          <a:p>
            <a:pPr marL="0" indent="0" algn="ctr">
              <a:buNone/>
            </a:pPr>
            <a:r>
              <a:rPr lang="en-US" sz="1050" dirty="0">
                <a:solidFill>
                  <a:srgbClr val="FFFFFF"/>
                </a:solidFill>
                <a:latin typeface="Calibri" panose="020F0502020204030204" pitchFamily="34" charset="0"/>
                <a:ea typeface="Calibri" panose="020F0502020204030204" pitchFamily="34" charset="-122"/>
                <a:cs typeface="Calibri" panose="020F0502020204030204" pitchFamily="34" charset="-120"/>
              </a:rPr>
              <a:t>Admin sets up</a:t>
            </a:r>
            <a:endParaRPr lang="en-US" sz="1050" dirty="0"/>
          </a:p>
          <a:p>
            <a:pPr marL="0" indent="0" algn="ctr">
              <a:buNone/>
            </a:pPr>
            <a:r>
              <a:rPr lang="en-US" sz="1050" dirty="0">
                <a:solidFill>
                  <a:srgbClr val="FFFFFF"/>
                </a:solidFill>
                <a:latin typeface="Calibri" panose="020F0502020204030204" pitchFamily="34" charset="0"/>
                <a:ea typeface="Calibri" panose="020F0502020204030204" pitchFamily="34" charset="-122"/>
                <a:cs typeface="Calibri" panose="020F0502020204030204" pitchFamily="34" charset="-120"/>
              </a:rPr>
              <a:t>workflow once</a:t>
            </a:r>
            <a:endParaRPr lang="en-US" sz="1050" dirty="0"/>
          </a:p>
        </p:txBody>
      </p:sp>
      <p:sp>
        <p:nvSpPr>
          <p:cNvPr id="10" name="Text 7"/>
          <p:cNvSpPr/>
          <p:nvPr/>
        </p:nvSpPr>
        <p:spPr>
          <a:xfrm>
            <a:off x="1847088" y="1865376"/>
            <a:ext cx="201168" cy="274320"/>
          </a:xfrm>
          <a:prstGeom prst="rect">
            <a:avLst/>
          </a:prstGeom>
          <a:noFill/>
        </p:spPr>
        <p:txBody>
          <a:bodyPr wrap="square" lIns="0" tIns="0" rIns="0" bIns="0" rtlCol="0" anchor="ctr"/>
          <a:lstStyle/>
          <a:p>
            <a:pPr marL="0" indent="0" algn="ctr">
              <a:buNone/>
            </a:pPr>
            <a:r>
              <a:rPr lang="en-US" sz="1200" dirty="0">
                <a:solidFill>
                  <a:srgbClr val="2A7D8E"/>
                </a:solidFill>
                <a:latin typeface="Calibri" panose="020F0502020204030204" pitchFamily="34" charset="0"/>
                <a:ea typeface="Calibri" panose="020F0502020204030204" pitchFamily="34" charset="-122"/>
                <a:cs typeface="Calibri" panose="020F0502020204030204" pitchFamily="34" charset="-120"/>
              </a:rPr>
              <a:t>▶</a:t>
            </a:r>
            <a:endParaRPr lang="en-US" sz="1200" dirty="0"/>
          </a:p>
        </p:txBody>
      </p:sp>
      <p:sp>
        <p:nvSpPr>
          <p:cNvPr id="11" name="Shape 8"/>
          <p:cNvSpPr/>
          <p:nvPr/>
        </p:nvSpPr>
        <p:spPr>
          <a:xfrm>
            <a:off x="2011680" y="1115568"/>
            <a:ext cx="1572768" cy="1938528"/>
          </a:xfrm>
          <a:prstGeom prst="rect">
            <a:avLst/>
          </a:prstGeom>
          <a:solidFill>
            <a:srgbClr val="1E3A5F"/>
          </a:solidFill>
          <a:ln w="12700">
            <a:solidFill>
              <a:srgbClr val="2A7D8E"/>
            </a:solidFill>
            <a:prstDash val="solid"/>
          </a:ln>
        </p:spPr>
      </p:sp>
      <p:pic>
        <p:nvPicPr>
          <p:cNvPr id="12" name="Image 1" descr="preencoded.png"/>
          <p:cNvPicPr>
            <a:picLocks noChangeAspect="1"/>
          </p:cNvPicPr>
          <p:nvPr/>
        </p:nvPicPr>
        <p:blipFill>
          <a:blip r:embed="rId2"/>
          <a:stretch>
            <a:fillRect/>
          </a:stretch>
        </p:blipFill>
        <p:spPr>
          <a:xfrm>
            <a:off x="2551176" y="1234440"/>
            <a:ext cx="475488" cy="475488"/>
          </a:xfrm>
          <a:prstGeom prst="rect">
            <a:avLst/>
          </a:prstGeom>
        </p:spPr>
      </p:pic>
      <p:sp>
        <p:nvSpPr>
          <p:cNvPr id="13" name="Text 9"/>
          <p:cNvSpPr/>
          <p:nvPr/>
        </p:nvSpPr>
        <p:spPr>
          <a:xfrm>
            <a:off x="2084832" y="1792224"/>
            <a:ext cx="1426464" cy="1170432"/>
          </a:xfrm>
          <a:prstGeom prst="rect">
            <a:avLst/>
          </a:prstGeom>
          <a:noFill/>
        </p:spPr>
        <p:txBody>
          <a:bodyPr wrap="square" lIns="0" tIns="0" rIns="0" bIns="0" rtlCol="0" anchor="ctr"/>
          <a:lstStyle/>
          <a:p>
            <a:pPr marL="0" indent="0" algn="ctr">
              <a:buNone/>
            </a:pPr>
            <a:r>
              <a:rPr lang="en-US" sz="1050" dirty="0">
                <a:solidFill>
                  <a:srgbClr val="FFFFFF"/>
                </a:solidFill>
                <a:latin typeface="Calibri" panose="020F0502020204030204" pitchFamily="34" charset="0"/>
                <a:ea typeface="Calibri" panose="020F0502020204030204" pitchFamily="34" charset="-122"/>
                <a:cs typeface="Calibri" panose="020F0502020204030204" pitchFamily="34" charset="-120"/>
              </a:rPr>
              <a:t>Trigger fires</a:t>
            </a:r>
            <a:endParaRPr lang="en-US" sz="1050" dirty="0"/>
          </a:p>
          <a:p>
            <a:pPr marL="0" indent="0" algn="ctr">
              <a:buNone/>
            </a:pPr>
            <a:r>
              <a:rPr lang="en-US" sz="1050" dirty="0">
                <a:solidFill>
                  <a:srgbClr val="FFFFFF"/>
                </a:solidFill>
                <a:latin typeface="Calibri" panose="020F0502020204030204" pitchFamily="34" charset="0"/>
                <a:ea typeface="Calibri" panose="020F0502020204030204" pitchFamily="34" charset="-122"/>
                <a:cs typeface="Calibri" panose="020F0502020204030204" pitchFamily="34" charset="-120"/>
              </a:rPr>
              <a:t>automatically</a:t>
            </a:r>
            <a:endParaRPr lang="en-US" sz="1050" dirty="0"/>
          </a:p>
          <a:p>
            <a:pPr marL="0" indent="0" algn="ctr">
              <a:buNone/>
            </a:pPr>
            <a:r>
              <a:rPr lang="en-US" sz="1050" dirty="0">
                <a:solidFill>
                  <a:srgbClr val="FFFFFF"/>
                </a:solidFill>
                <a:latin typeface="Calibri" panose="020F0502020204030204" pitchFamily="34" charset="0"/>
                <a:ea typeface="Calibri" panose="020F0502020204030204" pitchFamily="34" charset="-122"/>
                <a:cs typeface="Calibri" panose="020F0502020204030204" pitchFamily="34" charset="-120"/>
              </a:rPr>
              <a:t>(before/on/after event)</a:t>
            </a:r>
            <a:endParaRPr lang="en-US" sz="1050" dirty="0"/>
          </a:p>
        </p:txBody>
      </p:sp>
      <p:sp>
        <p:nvSpPr>
          <p:cNvPr id="14" name="Text 10"/>
          <p:cNvSpPr/>
          <p:nvPr/>
        </p:nvSpPr>
        <p:spPr>
          <a:xfrm>
            <a:off x="3602736" y="1865376"/>
            <a:ext cx="201168" cy="274320"/>
          </a:xfrm>
          <a:prstGeom prst="rect">
            <a:avLst/>
          </a:prstGeom>
          <a:noFill/>
        </p:spPr>
        <p:txBody>
          <a:bodyPr wrap="square" lIns="0" tIns="0" rIns="0" bIns="0" rtlCol="0" anchor="ctr"/>
          <a:lstStyle/>
          <a:p>
            <a:pPr marL="0" indent="0" algn="ctr">
              <a:buNone/>
            </a:pPr>
            <a:r>
              <a:rPr lang="en-US" sz="1200" dirty="0">
                <a:solidFill>
                  <a:srgbClr val="2A7D8E"/>
                </a:solidFill>
                <a:latin typeface="Calibri" panose="020F0502020204030204" pitchFamily="34" charset="0"/>
                <a:ea typeface="Calibri" panose="020F0502020204030204" pitchFamily="34" charset="-122"/>
                <a:cs typeface="Calibri" panose="020F0502020204030204" pitchFamily="34" charset="-120"/>
              </a:rPr>
              <a:t>▶</a:t>
            </a:r>
            <a:endParaRPr lang="en-US" sz="1200" dirty="0"/>
          </a:p>
        </p:txBody>
      </p:sp>
      <p:sp>
        <p:nvSpPr>
          <p:cNvPr id="15" name="Shape 11"/>
          <p:cNvSpPr/>
          <p:nvPr/>
        </p:nvSpPr>
        <p:spPr>
          <a:xfrm>
            <a:off x="3767328" y="1115568"/>
            <a:ext cx="1572768" cy="1938528"/>
          </a:xfrm>
          <a:prstGeom prst="rect">
            <a:avLst/>
          </a:prstGeom>
          <a:solidFill>
            <a:srgbClr val="1E3A5F"/>
          </a:solidFill>
          <a:ln w="12700">
            <a:solidFill>
              <a:srgbClr val="2A7D8E"/>
            </a:solidFill>
            <a:prstDash val="solid"/>
          </a:ln>
        </p:spPr>
      </p:sp>
      <p:pic>
        <p:nvPicPr>
          <p:cNvPr id="16" name="Image 2" descr="preencoded.png"/>
          <p:cNvPicPr>
            <a:picLocks noChangeAspect="1"/>
          </p:cNvPicPr>
          <p:nvPr/>
        </p:nvPicPr>
        <p:blipFill>
          <a:blip r:embed="rId3"/>
          <a:stretch>
            <a:fillRect/>
          </a:stretch>
        </p:blipFill>
        <p:spPr>
          <a:xfrm>
            <a:off x="4306824" y="1234440"/>
            <a:ext cx="475488" cy="475488"/>
          </a:xfrm>
          <a:prstGeom prst="rect">
            <a:avLst/>
          </a:prstGeom>
        </p:spPr>
      </p:pic>
      <p:sp>
        <p:nvSpPr>
          <p:cNvPr id="17" name="Text 12"/>
          <p:cNvSpPr/>
          <p:nvPr/>
        </p:nvSpPr>
        <p:spPr>
          <a:xfrm>
            <a:off x="3840480" y="1792224"/>
            <a:ext cx="1426464" cy="1170432"/>
          </a:xfrm>
          <a:prstGeom prst="rect">
            <a:avLst/>
          </a:prstGeom>
          <a:noFill/>
        </p:spPr>
        <p:txBody>
          <a:bodyPr wrap="square" lIns="0" tIns="0" rIns="0" bIns="0" rtlCol="0" anchor="ctr"/>
          <a:lstStyle/>
          <a:p>
            <a:pPr marL="0" indent="0" algn="ctr">
              <a:buNone/>
            </a:pPr>
            <a:r>
              <a:rPr lang="en-US" sz="1050" dirty="0">
                <a:solidFill>
                  <a:srgbClr val="FFFFFF"/>
                </a:solidFill>
                <a:latin typeface="Calibri" panose="020F0502020204030204" pitchFamily="34" charset="0"/>
                <a:ea typeface="Calibri" panose="020F0502020204030204" pitchFamily="34" charset="-122"/>
                <a:cs typeface="Calibri" panose="020F0502020204030204" pitchFamily="34" charset="-120"/>
              </a:rPr>
              <a:t>Notifications sent</a:t>
            </a:r>
            <a:endParaRPr lang="en-US" sz="1050" dirty="0"/>
          </a:p>
          <a:p>
            <a:pPr marL="0" indent="0" algn="ctr">
              <a:buNone/>
            </a:pPr>
            <a:r>
              <a:rPr lang="en-US" sz="1050" dirty="0">
                <a:solidFill>
                  <a:srgbClr val="FFFFFF"/>
                </a:solidFill>
                <a:latin typeface="Calibri" panose="020F0502020204030204" pitchFamily="34" charset="0"/>
                <a:ea typeface="Calibri" panose="020F0502020204030204" pitchFamily="34" charset="-122"/>
                <a:cs typeface="Calibri" panose="020F0502020204030204" pitchFamily="34" charset="-120"/>
              </a:rPr>
              <a:t>to each reviewer</a:t>
            </a:r>
            <a:endParaRPr lang="en-US" sz="1050" dirty="0"/>
          </a:p>
          <a:p>
            <a:pPr marL="0" indent="0" algn="ctr">
              <a:buNone/>
            </a:pPr>
            <a:r>
              <a:rPr lang="en-US" sz="1050" dirty="0">
                <a:solidFill>
                  <a:srgbClr val="FFFFFF"/>
                </a:solidFill>
                <a:latin typeface="Calibri" panose="020F0502020204030204" pitchFamily="34" charset="0"/>
                <a:ea typeface="Calibri" panose="020F0502020204030204" pitchFamily="34" charset="-122"/>
                <a:cs typeface="Calibri" panose="020F0502020204030204" pitchFamily="34" charset="-120"/>
              </a:rPr>
              <a:t>level in sequence</a:t>
            </a:r>
            <a:endParaRPr lang="en-US" sz="1050" dirty="0"/>
          </a:p>
        </p:txBody>
      </p:sp>
      <p:sp>
        <p:nvSpPr>
          <p:cNvPr id="18" name="Text 13"/>
          <p:cNvSpPr/>
          <p:nvPr/>
        </p:nvSpPr>
        <p:spPr>
          <a:xfrm>
            <a:off x="5358384" y="1865376"/>
            <a:ext cx="201168" cy="274320"/>
          </a:xfrm>
          <a:prstGeom prst="rect">
            <a:avLst/>
          </a:prstGeom>
          <a:noFill/>
        </p:spPr>
        <p:txBody>
          <a:bodyPr wrap="square" lIns="0" tIns="0" rIns="0" bIns="0" rtlCol="0" anchor="ctr"/>
          <a:lstStyle/>
          <a:p>
            <a:pPr marL="0" indent="0" algn="ctr">
              <a:buNone/>
            </a:pPr>
            <a:r>
              <a:rPr lang="en-US" sz="1200" dirty="0">
                <a:solidFill>
                  <a:srgbClr val="2A7D8E"/>
                </a:solidFill>
                <a:latin typeface="Calibri" panose="020F0502020204030204" pitchFamily="34" charset="0"/>
                <a:ea typeface="Calibri" panose="020F0502020204030204" pitchFamily="34" charset="-122"/>
                <a:cs typeface="Calibri" panose="020F0502020204030204" pitchFamily="34" charset="-120"/>
              </a:rPr>
              <a:t>▶</a:t>
            </a:r>
            <a:endParaRPr lang="en-US" sz="1200" dirty="0"/>
          </a:p>
        </p:txBody>
      </p:sp>
      <p:sp>
        <p:nvSpPr>
          <p:cNvPr id="19" name="Shape 14"/>
          <p:cNvSpPr/>
          <p:nvPr/>
        </p:nvSpPr>
        <p:spPr>
          <a:xfrm>
            <a:off x="5522976" y="1115568"/>
            <a:ext cx="1572768" cy="1938528"/>
          </a:xfrm>
          <a:prstGeom prst="rect">
            <a:avLst/>
          </a:prstGeom>
          <a:solidFill>
            <a:srgbClr val="1E3A5F"/>
          </a:solidFill>
          <a:ln w="12700">
            <a:solidFill>
              <a:srgbClr val="2A7D8E"/>
            </a:solidFill>
            <a:prstDash val="solid"/>
          </a:ln>
        </p:spPr>
      </p:sp>
      <p:pic>
        <p:nvPicPr>
          <p:cNvPr id="20" name="Image 3" descr="preencoded.png"/>
          <p:cNvPicPr>
            <a:picLocks noChangeAspect="1"/>
          </p:cNvPicPr>
          <p:nvPr/>
        </p:nvPicPr>
        <p:blipFill>
          <a:blip r:embed="rId4"/>
          <a:stretch>
            <a:fillRect/>
          </a:stretch>
        </p:blipFill>
        <p:spPr>
          <a:xfrm>
            <a:off x="6062472" y="1234440"/>
            <a:ext cx="475488" cy="475488"/>
          </a:xfrm>
          <a:prstGeom prst="rect">
            <a:avLst/>
          </a:prstGeom>
        </p:spPr>
      </p:pic>
      <p:sp>
        <p:nvSpPr>
          <p:cNvPr id="21" name="Text 15"/>
          <p:cNvSpPr/>
          <p:nvPr/>
        </p:nvSpPr>
        <p:spPr>
          <a:xfrm>
            <a:off x="5596128" y="1792224"/>
            <a:ext cx="1426464" cy="1170432"/>
          </a:xfrm>
          <a:prstGeom prst="rect">
            <a:avLst/>
          </a:prstGeom>
          <a:noFill/>
        </p:spPr>
        <p:txBody>
          <a:bodyPr wrap="square" lIns="0" tIns="0" rIns="0" bIns="0" rtlCol="0" anchor="ctr"/>
          <a:lstStyle/>
          <a:p>
            <a:pPr marL="0" indent="0" algn="ctr">
              <a:buNone/>
            </a:pPr>
            <a:r>
              <a:rPr lang="en-US" sz="1050" dirty="0">
                <a:solidFill>
                  <a:srgbClr val="FFFFFF"/>
                </a:solidFill>
                <a:latin typeface="Calibri" panose="020F0502020204030204" pitchFamily="34" charset="0"/>
                <a:ea typeface="Calibri" panose="020F0502020204030204" pitchFamily="34" charset="-122"/>
                <a:cs typeface="Calibri" panose="020F0502020204030204" pitchFamily="34" charset="-120"/>
              </a:rPr>
              <a:t>Custom forms &amp;</a:t>
            </a:r>
            <a:endParaRPr lang="en-US" sz="1050" dirty="0"/>
          </a:p>
          <a:p>
            <a:pPr marL="0" indent="0" algn="ctr">
              <a:buNone/>
            </a:pPr>
            <a:r>
              <a:rPr lang="en-US" sz="1050" dirty="0">
                <a:solidFill>
                  <a:srgbClr val="FFFFFF"/>
                </a:solidFill>
                <a:latin typeface="Calibri" panose="020F0502020204030204" pitchFamily="34" charset="0"/>
                <a:ea typeface="Calibri" panose="020F0502020204030204" pitchFamily="34" charset="-122"/>
                <a:cs typeface="Calibri" panose="020F0502020204030204" pitchFamily="34" charset="-120"/>
              </a:rPr>
              <a:t>documents collected</a:t>
            </a:r>
            <a:endParaRPr lang="en-US" sz="1050" dirty="0"/>
          </a:p>
          <a:p>
            <a:pPr marL="0" indent="0" algn="ctr">
              <a:buNone/>
            </a:pPr>
            <a:r>
              <a:rPr lang="en-US" sz="1050" dirty="0">
                <a:solidFill>
                  <a:srgbClr val="FFFFFF"/>
                </a:solidFill>
                <a:latin typeface="Calibri" panose="020F0502020204030204" pitchFamily="34" charset="0"/>
                <a:ea typeface="Calibri" panose="020F0502020204030204" pitchFamily="34" charset="-122"/>
                <a:cs typeface="Calibri" panose="020F0502020204030204" pitchFamily="34" charset="-120"/>
              </a:rPr>
              <a:t>per reviewer level</a:t>
            </a:r>
            <a:endParaRPr lang="en-US" sz="1050" dirty="0"/>
          </a:p>
        </p:txBody>
      </p:sp>
      <p:sp>
        <p:nvSpPr>
          <p:cNvPr id="22" name="Text 16"/>
          <p:cNvSpPr/>
          <p:nvPr/>
        </p:nvSpPr>
        <p:spPr>
          <a:xfrm>
            <a:off x="7114032" y="1865376"/>
            <a:ext cx="201168" cy="274320"/>
          </a:xfrm>
          <a:prstGeom prst="rect">
            <a:avLst/>
          </a:prstGeom>
          <a:noFill/>
        </p:spPr>
        <p:txBody>
          <a:bodyPr wrap="square" lIns="0" tIns="0" rIns="0" bIns="0" rtlCol="0" anchor="ctr"/>
          <a:lstStyle/>
          <a:p>
            <a:pPr marL="0" indent="0" algn="ctr">
              <a:buNone/>
            </a:pPr>
            <a:r>
              <a:rPr lang="en-US" sz="1200" dirty="0">
                <a:solidFill>
                  <a:srgbClr val="2A7D8E"/>
                </a:solidFill>
                <a:latin typeface="Calibri" panose="020F0502020204030204" pitchFamily="34" charset="0"/>
                <a:ea typeface="Calibri" panose="020F0502020204030204" pitchFamily="34" charset="-122"/>
                <a:cs typeface="Calibri" panose="020F0502020204030204" pitchFamily="34" charset="-120"/>
              </a:rPr>
              <a:t>▶</a:t>
            </a:r>
            <a:endParaRPr lang="en-US" sz="1200" dirty="0"/>
          </a:p>
        </p:txBody>
      </p:sp>
      <p:sp>
        <p:nvSpPr>
          <p:cNvPr id="23" name="Shape 17"/>
          <p:cNvSpPr/>
          <p:nvPr/>
        </p:nvSpPr>
        <p:spPr>
          <a:xfrm>
            <a:off x="7278624" y="1115568"/>
            <a:ext cx="1572768" cy="1938528"/>
          </a:xfrm>
          <a:prstGeom prst="rect">
            <a:avLst/>
          </a:prstGeom>
          <a:solidFill>
            <a:srgbClr val="1E3A5F"/>
          </a:solidFill>
          <a:ln w="12700">
            <a:solidFill>
              <a:srgbClr val="2A7D8E"/>
            </a:solidFill>
            <a:prstDash val="solid"/>
          </a:ln>
        </p:spPr>
      </p:sp>
      <p:pic>
        <p:nvPicPr>
          <p:cNvPr id="24" name="Image 4" descr="preencoded.png"/>
          <p:cNvPicPr>
            <a:picLocks noChangeAspect="1"/>
          </p:cNvPicPr>
          <p:nvPr/>
        </p:nvPicPr>
        <p:blipFill>
          <a:blip r:embed="rId5"/>
          <a:stretch>
            <a:fillRect/>
          </a:stretch>
        </p:blipFill>
        <p:spPr>
          <a:xfrm>
            <a:off x="7818120" y="1234440"/>
            <a:ext cx="475488" cy="475488"/>
          </a:xfrm>
          <a:prstGeom prst="rect">
            <a:avLst/>
          </a:prstGeom>
        </p:spPr>
      </p:pic>
      <p:sp>
        <p:nvSpPr>
          <p:cNvPr id="25" name="Text 18"/>
          <p:cNvSpPr/>
          <p:nvPr/>
        </p:nvSpPr>
        <p:spPr>
          <a:xfrm>
            <a:off x="7351776" y="1792224"/>
            <a:ext cx="1426464" cy="1170432"/>
          </a:xfrm>
          <a:prstGeom prst="rect">
            <a:avLst/>
          </a:prstGeom>
          <a:noFill/>
        </p:spPr>
        <p:txBody>
          <a:bodyPr wrap="square" lIns="0" tIns="0" rIns="0" bIns="0" rtlCol="0" anchor="ctr"/>
          <a:lstStyle/>
          <a:p>
            <a:pPr marL="0" indent="0" algn="ctr">
              <a:buNone/>
            </a:pPr>
            <a:r>
              <a:rPr lang="en-US" sz="1050" dirty="0">
                <a:solidFill>
                  <a:srgbClr val="FFFFFF"/>
                </a:solidFill>
                <a:latin typeface="Calibri" panose="020F0502020204030204" pitchFamily="34" charset="0"/>
                <a:ea typeface="Calibri" panose="020F0502020204030204" pitchFamily="34" charset="-122"/>
                <a:cs typeface="Calibri" panose="020F0502020204030204" pitchFamily="34" charset="-120"/>
              </a:rPr>
              <a:t>HRMS auto-updated</a:t>
            </a:r>
            <a:endParaRPr lang="en-US" sz="1050" dirty="0"/>
          </a:p>
          <a:p>
            <a:pPr marL="0" indent="0" algn="ctr">
              <a:buNone/>
            </a:pPr>
            <a:r>
              <a:rPr lang="en-US" sz="1050" dirty="0">
                <a:solidFill>
                  <a:srgbClr val="FFFFFF"/>
                </a:solidFill>
                <a:latin typeface="Calibri" panose="020F0502020204030204" pitchFamily="34" charset="0"/>
                <a:ea typeface="Calibri" panose="020F0502020204030204" pitchFamily="34" charset="-122"/>
                <a:cs typeface="Calibri" panose="020F0502020204030204" pitchFamily="34" charset="-120"/>
              </a:rPr>
              <a:t>once all approvals</a:t>
            </a:r>
            <a:endParaRPr lang="en-US" sz="1050" dirty="0"/>
          </a:p>
          <a:p>
            <a:pPr marL="0" indent="0" algn="ctr">
              <a:buNone/>
            </a:pPr>
            <a:r>
              <a:rPr lang="en-US" sz="1050" dirty="0">
                <a:solidFill>
                  <a:srgbClr val="FFFFFF"/>
                </a:solidFill>
                <a:latin typeface="Calibri" panose="020F0502020204030204" pitchFamily="34" charset="0"/>
                <a:ea typeface="Calibri" panose="020F0502020204030204" pitchFamily="34" charset="-122"/>
                <a:cs typeface="Calibri" panose="020F0502020204030204" pitchFamily="34" charset="-120"/>
              </a:rPr>
              <a:t>are complete</a:t>
            </a:r>
            <a:endParaRPr lang="en-US" sz="1050" dirty="0"/>
          </a:p>
        </p:txBody>
      </p:sp>
      <p:sp>
        <p:nvSpPr>
          <p:cNvPr id="26" name="Text 19"/>
          <p:cNvSpPr/>
          <p:nvPr/>
        </p:nvSpPr>
        <p:spPr>
          <a:xfrm>
            <a:off x="274320" y="3200400"/>
            <a:ext cx="3657600" cy="256032"/>
          </a:xfrm>
          <a:prstGeom prst="rect">
            <a:avLst/>
          </a:prstGeom>
          <a:noFill/>
        </p:spPr>
        <p:txBody>
          <a:bodyPr wrap="square" lIns="0" tIns="0" rIns="0" bIns="0" rtlCol="0" anchor="ctr"/>
          <a:lstStyle/>
          <a:p>
            <a:pPr marL="0" indent="0">
              <a:buNone/>
            </a:pPr>
            <a:r>
              <a:rPr lang="en-US" sz="900" b="1" kern="0" spc="300" dirty="0">
                <a:solidFill>
                  <a:srgbClr val="2A7D8E"/>
                </a:solidFill>
                <a:latin typeface="Calibri" panose="020F0502020204030204" pitchFamily="34" charset="0"/>
                <a:ea typeface="Calibri" panose="020F0502020204030204" pitchFamily="34" charset="-122"/>
                <a:cs typeface="Calibri" panose="020F0502020204030204" pitchFamily="34" charset="-120"/>
              </a:rPr>
              <a:t>SUPPORTED WORKFLOW EVENTS</a:t>
            </a:r>
            <a:endParaRPr lang="en-US" sz="900" dirty="0"/>
          </a:p>
        </p:txBody>
      </p:sp>
      <p:sp>
        <p:nvSpPr>
          <p:cNvPr id="27" name="Shape 20"/>
          <p:cNvSpPr/>
          <p:nvPr/>
        </p:nvSpPr>
        <p:spPr>
          <a:xfrm>
            <a:off x="274320" y="3529584"/>
            <a:ext cx="1956816" cy="274320"/>
          </a:xfrm>
          <a:prstGeom prst="rect">
            <a:avLst/>
          </a:prstGeom>
          <a:solidFill>
            <a:srgbClr val="1E3A5F"/>
          </a:solidFill>
          <a:ln w="12700">
            <a:solidFill>
              <a:srgbClr val="2A7D8E"/>
            </a:solidFill>
            <a:prstDash val="solid"/>
          </a:ln>
        </p:spPr>
      </p:sp>
      <p:sp>
        <p:nvSpPr>
          <p:cNvPr id="28" name="Text 21"/>
          <p:cNvSpPr/>
          <p:nvPr/>
        </p:nvSpPr>
        <p:spPr>
          <a:xfrm>
            <a:off x="274320" y="3529584"/>
            <a:ext cx="1956816" cy="274320"/>
          </a:xfrm>
          <a:prstGeom prst="rect">
            <a:avLst/>
          </a:prstGeom>
          <a:noFill/>
        </p:spPr>
        <p:txBody>
          <a:bodyPr wrap="square" lIns="0" tIns="0" rIns="0" bIns="0" rtlCol="0" anchor="ctr"/>
          <a:lstStyle/>
          <a:p>
            <a:pPr marL="0" indent="0" algn="ctr">
              <a:buNone/>
            </a:pPr>
            <a:r>
              <a:rPr lang="en-US" sz="950" dirty="0">
                <a:solidFill>
                  <a:srgbClr val="C8DCF0"/>
                </a:solidFill>
                <a:latin typeface="Calibri" panose="020F0502020204030204" pitchFamily="34" charset="0"/>
                <a:ea typeface="Calibri" panose="020F0502020204030204" pitchFamily="34" charset="-122"/>
                <a:cs typeface="Calibri" panose="020F0502020204030204" pitchFamily="34" charset="-120"/>
              </a:rPr>
              <a:t>Visa / Passport Expiry</a:t>
            </a:r>
            <a:endParaRPr lang="en-US" sz="950" dirty="0"/>
          </a:p>
        </p:txBody>
      </p:sp>
      <p:sp>
        <p:nvSpPr>
          <p:cNvPr id="29" name="Shape 22"/>
          <p:cNvSpPr/>
          <p:nvPr/>
        </p:nvSpPr>
        <p:spPr>
          <a:xfrm>
            <a:off x="2359152" y="3529584"/>
            <a:ext cx="1956816" cy="274320"/>
          </a:xfrm>
          <a:prstGeom prst="rect">
            <a:avLst/>
          </a:prstGeom>
          <a:solidFill>
            <a:srgbClr val="1E3A5F"/>
          </a:solidFill>
          <a:ln w="12700">
            <a:solidFill>
              <a:srgbClr val="2A7D8E"/>
            </a:solidFill>
            <a:prstDash val="solid"/>
          </a:ln>
        </p:spPr>
      </p:sp>
      <p:sp>
        <p:nvSpPr>
          <p:cNvPr id="30" name="Text 23"/>
          <p:cNvSpPr/>
          <p:nvPr/>
        </p:nvSpPr>
        <p:spPr>
          <a:xfrm>
            <a:off x="2359152" y="3529584"/>
            <a:ext cx="1956816" cy="274320"/>
          </a:xfrm>
          <a:prstGeom prst="rect">
            <a:avLst/>
          </a:prstGeom>
          <a:noFill/>
        </p:spPr>
        <p:txBody>
          <a:bodyPr wrap="square" lIns="0" tIns="0" rIns="0" bIns="0" rtlCol="0" anchor="ctr"/>
          <a:lstStyle/>
          <a:p>
            <a:pPr marL="0" indent="0" algn="ctr">
              <a:buNone/>
            </a:pPr>
            <a:r>
              <a:rPr lang="en-US" sz="950" dirty="0">
                <a:solidFill>
                  <a:srgbClr val="C8DCF0"/>
                </a:solidFill>
                <a:latin typeface="Calibri" panose="020F0502020204030204" pitchFamily="34" charset="0"/>
                <a:ea typeface="Calibri" panose="020F0502020204030204" pitchFamily="34" charset="-122"/>
                <a:cs typeface="Calibri" panose="020F0502020204030204" pitchFamily="34" charset="-120"/>
              </a:rPr>
              <a:t>Work Authorization Renewal</a:t>
            </a:r>
            <a:endParaRPr lang="en-US" sz="950" dirty="0"/>
          </a:p>
        </p:txBody>
      </p:sp>
      <p:sp>
        <p:nvSpPr>
          <p:cNvPr id="31" name="Shape 24"/>
          <p:cNvSpPr/>
          <p:nvPr/>
        </p:nvSpPr>
        <p:spPr>
          <a:xfrm>
            <a:off x="4443984" y="3529584"/>
            <a:ext cx="1956816" cy="274320"/>
          </a:xfrm>
          <a:prstGeom prst="rect">
            <a:avLst/>
          </a:prstGeom>
          <a:solidFill>
            <a:srgbClr val="1E3A5F"/>
          </a:solidFill>
          <a:ln w="12700">
            <a:solidFill>
              <a:srgbClr val="2A7D8E"/>
            </a:solidFill>
            <a:prstDash val="solid"/>
          </a:ln>
        </p:spPr>
      </p:sp>
      <p:sp>
        <p:nvSpPr>
          <p:cNvPr id="32" name="Text 25"/>
          <p:cNvSpPr/>
          <p:nvPr/>
        </p:nvSpPr>
        <p:spPr>
          <a:xfrm>
            <a:off x="4443984" y="3529584"/>
            <a:ext cx="1956816" cy="274320"/>
          </a:xfrm>
          <a:prstGeom prst="rect">
            <a:avLst/>
          </a:prstGeom>
          <a:noFill/>
        </p:spPr>
        <p:txBody>
          <a:bodyPr wrap="square" lIns="0" tIns="0" rIns="0" bIns="0" rtlCol="0" anchor="ctr"/>
          <a:lstStyle/>
          <a:p>
            <a:pPr marL="0" indent="0" algn="ctr">
              <a:buNone/>
            </a:pPr>
            <a:r>
              <a:rPr lang="en-US" sz="950" dirty="0">
                <a:solidFill>
                  <a:srgbClr val="C8DCF0"/>
                </a:solidFill>
                <a:latin typeface="Calibri" panose="020F0502020204030204" pitchFamily="34" charset="0"/>
                <a:ea typeface="Calibri" panose="020F0502020204030204" pitchFamily="34" charset="-122"/>
                <a:cs typeface="Calibri" panose="020F0502020204030204" pitchFamily="34" charset="-120"/>
              </a:rPr>
              <a:t>Employee Confirmation</a:t>
            </a:r>
            <a:endParaRPr lang="en-US" sz="950" dirty="0"/>
          </a:p>
        </p:txBody>
      </p:sp>
      <p:sp>
        <p:nvSpPr>
          <p:cNvPr id="33" name="Shape 26"/>
          <p:cNvSpPr/>
          <p:nvPr/>
        </p:nvSpPr>
        <p:spPr>
          <a:xfrm>
            <a:off x="274320" y="3877056"/>
            <a:ext cx="1956816" cy="274320"/>
          </a:xfrm>
          <a:prstGeom prst="rect">
            <a:avLst/>
          </a:prstGeom>
          <a:solidFill>
            <a:srgbClr val="1E3A5F"/>
          </a:solidFill>
          <a:ln w="12700">
            <a:solidFill>
              <a:srgbClr val="2A7D8E"/>
            </a:solidFill>
            <a:prstDash val="solid"/>
          </a:ln>
        </p:spPr>
      </p:sp>
      <p:sp>
        <p:nvSpPr>
          <p:cNvPr id="34" name="Text 27"/>
          <p:cNvSpPr/>
          <p:nvPr/>
        </p:nvSpPr>
        <p:spPr>
          <a:xfrm>
            <a:off x="274320" y="3877056"/>
            <a:ext cx="1956816" cy="274320"/>
          </a:xfrm>
          <a:prstGeom prst="rect">
            <a:avLst/>
          </a:prstGeom>
          <a:noFill/>
        </p:spPr>
        <p:txBody>
          <a:bodyPr wrap="square" lIns="0" tIns="0" rIns="0" bIns="0" rtlCol="0" anchor="ctr"/>
          <a:lstStyle/>
          <a:p>
            <a:pPr marL="0" indent="0" algn="ctr">
              <a:buNone/>
            </a:pPr>
            <a:r>
              <a:rPr lang="en-US" sz="950" dirty="0">
                <a:solidFill>
                  <a:srgbClr val="C8DCF0"/>
                </a:solidFill>
                <a:latin typeface="Calibri" panose="020F0502020204030204" pitchFamily="34" charset="0"/>
                <a:ea typeface="Calibri" panose="020F0502020204030204" pitchFamily="34" charset="-122"/>
                <a:cs typeface="Calibri" panose="020F0502020204030204" pitchFamily="34" charset="-120"/>
              </a:rPr>
              <a:t>Employee Exit</a:t>
            </a:r>
            <a:endParaRPr lang="en-US" sz="950" dirty="0"/>
          </a:p>
        </p:txBody>
      </p:sp>
      <p:sp>
        <p:nvSpPr>
          <p:cNvPr id="35" name="Shape 28"/>
          <p:cNvSpPr/>
          <p:nvPr/>
        </p:nvSpPr>
        <p:spPr>
          <a:xfrm>
            <a:off x="2359152" y="3877056"/>
            <a:ext cx="1956816" cy="274320"/>
          </a:xfrm>
          <a:prstGeom prst="rect">
            <a:avLst/>
          </a:prstGeom>
          <a:solidFill>
            <a:srgbClr val="1E3A5F"/>
          </a:solidFill>
          <a:ln w="12700">
            <a:solidFill>
              <a:srgbClr val="2A7D8E"/>
            </a:solidFill>
            <a:prstDash val="solid"/>
          </a:ln>
        </p:spPr>
      </p:sp>
      <p:sp>
        <p:nvSpPr>
          <p:cNvPr id="36" name="Text 29"/>
          <p:cNvSpPr/>
          <p:nvPr/>
        </p:nvSpPr>
        <p:spPr>
          <a:xfrm>
            <a:off x="2359152" y="3877056"/>
            <a:ext cx="1956816" cy="274320"/>
          </a:xfrm>
          <a:prstGeom prst="rect">
            <a:avLst/>
          </a:prstGeom>
          <a:noFill/>
        </p:spPr>
        <p:txBody>
          <a:bodyPr wrap="square" lIns="0" tIns="0" rIns="0" bIns="0" rtlCol="0" anchor="ctr"/>
          <a:lstStyle/>
          <a:p>
            <a:pPr marL="0" indent="0" algn="ctr">
              <a:buNone/>
            </a:pPr>
            <a:r>
              <a:rPr lang="en-US" sz="950" dirty="0">
                <a:solidFill>
                  <a:srgbClr val="C8DCF0"/>
                </a:solidFill>
                <a:latin typeface="Calibri" panose="020F0502020204030204" pitchFamily="34" charset="0"/>
                <a:ea typeface="Calibri" panose="020F0502020204030204" pitchFamily="34" charset="-122"/>
                <a:cs typeface="Calibri" panose="020F0502020204030204" pitchFamily="34" charset="-120"/>
              </a:rPr>
              <a:t>Driving License Renewal</a:t>
            </a:r>
            <a:endParaRPr lang="en-US" sz="950" dirty="0"/>
          </a:p>
        </p:txBody>
      </p:sp>
      <p:sp>
        <p:nvSpPr>
          <p:cNvPr id="37" name="Shape 30"/>
          <p:cNvSpPr/>
          <p:nvPr/>
        </p:nvSpPr>
        <p:spPr>
          <a:xfrm>
            <a:off x="4443984" y="3877056"/>
            <a:ext cx="1956816" cy="274320"/>
          </a:xfrm>
          <a:prstGeom prst="rect">
            <a:avLst/>
          </a:prstGeom>
          <a:solidFill>
            <a:srgbClr val="1E3A5F"/>
          </a:solidFill>
          <a:ln w="12700">
            <a:solidFill>
              <a:srgbClr val="2A7D8E"/>
            </a:solidFill>
            <a:prstDash val="solid"/>
          </a:ln>
        </p:spPr>
      </p:sp>
      <p:sp>
        <p:nvSpPr>
          <p:cNvPr id="38" name="Text 31"/>
          <p:cNvSpPr/>
          <p:nvPr/>
        </p:nvSpPr>
        <p:spPr>
          <a:xfrm>
            <a:off x="4443984" y="3877056"/>
            <a:ext cx="1956816" cy="274320"/>
          </a:xfrm>
          <a:prstGeom prst="rect">
            <a:avLst/>
          </a:prstGeom>
          <a:noFill/>
        </p:spPr>
        <p:txBody>
          <a:bodyPr wrap="square" lIns="0" tIns="0" rIns="0" bIns="0" rtlCol="0" anchor="ctr"/>
          <a:lstStyle/>
          <a:p>
            <a:pPr marL="0" indent="0" algn="ctr">
              <a:buNone/>
            </a:pPr>
            <a:r>
              <a:rPr lang="en-US" sz="950" dirty="0">
                <a:solidFill>
                  <a:srgbClr val="C8DCF0"/>
                </a:solidFill>
                <a:latin typeface="Calibri" panose="020F0502020204030204" pitchFamily="34" charset="0"/>
                <a:ea typeface="Calibri" panose="020F0502020204030204" pitchFamily="34" charset="-122"/>
                <a:cs typeface="Calibri" panose="020F0502020204030204" pitchFamily="34" charset="-120"/>
              </a:rPr>
              <a:t>Birthday &amp; Custom Events (Premium)</a:t>
            </a:r>
            <a:endParaRPr lang="en-US" sz="950" dirty="0"/>
          </a:p>
        </p:txBody>
      </p:sp>
      <p:sp>
        <p:nvSpPr>
          <p:cNvPr id="39" name="Shape 32"/>
          <p:cNvSpPr/>
          <p:nvPr/>
        </p:nvSpPr>
        <p:spPr>
          <a:xfrm>
            <a:off x="6492240" y="3145790"/>
            <a:ext cx="2411730" cy="1786890"/>
          </a:xfrm>
          <a:prstGeom prst="rect">
            <a:avLst/>
          </a:prstGeom>
          <a:solidFill>
            <a:srgbClr val="0F1F3D"/>
          </a:solidFill>
          <a:ln w="12700">
            <a:solidFill>
              <a:srgbClr val="2A7D8E"/>
            </a:solidFill>
            <a:prstDash val="solid"/>
          </a:ln>
        </p:spPr>
      </p:sp>
      <p:sp>
        <p:nvSpPr>
          <p:cNvPr id="40" name="Text 33"/>
          <p:cNvSpPr/>
          <p:nvPr/>
        </p:nvSpPr>
        <p:spPr>
          <a:xfrm>
            <a:off x="6565392" y="3218688"/>
            <a:ext cx="2304288" cy="237744"/>
          </a:xfrm>
          <a:prstGeom prst="rect">
            <a:avLst/>
          </a:prstGeom>
          <a:noFill/>
        </p:spPr>
        <p:txBody>
          <a:bodyPr wrap="square" lIns="0" tIns="0" rIns="0" bIns="0" rtlCol="0" anchor="ctr"/>
          <a:lstStyle/>
          <a:p>
            <a:pPr marL="0" indent="0" algn="ctr">
              <a:buNone/>
            </a:pPr>
            <a:r>
              <a:rPr lang="en-US" sz="850" b="1" kern="0" spc="200" dirty="0">
                <a:solidFill>
                  <a:srgbClr val="2A7D8E"/>
                </a:solidFill>
                <a:latin typeface="Calibri" panose="020F0502020204030204" pitchFamily="34" charset="0"/>
                <a:ea typeface="Calibri" panose="020F0502020204030204" pitchFamily="34" charset="-122"/>
                <a:cs typeface="Calibri" panose="020F0502020204030204" pitchFamily="34" charset="-120"/>
                <a:sym typeface="+mn-ea"/>
              </a:rPr>
              <a:t>PACKAGING MODEL</a:t>
            </a:r>
            <a:endParaRPr lang="en-US" sz="850" dirty="0"/>
          </a:p>
        </p:txBody>
      </p:sp>
      <p:sp>
        <p:nvSpPr>
          <p:cNvPr id="41" name="Shape 34"/>
          <p:cNvSpPr/>
          <p:nvPr/>
        </p:nvSpPr>
        <p:spPr>
          <a:xfrm>
            <a:off x="6565392" y="3502914"/>
            <a:ext cx="566928" cy="274320"/>
          </a:xfrm>
          <a:prstGeom prst="rect">
            <a:avLst/>
          </a:prstGeom>
          <a:solidFill>
            <a:srgbClr val="64748B"/>
          </a:solidFill>
          <a:ln w="12700">
            <a:solidFill>
              <a:srgbClr val="64748B"/>
            </a:solidFill>
            <a:prstDash val="solid"/>
          </a:ln>
        </p:spPr>
        <p:txBody>
          <a:bodyPr/>
          <a:p>
            <a:endParaRPr lang="en-US"/>
          </a:p>
        </p:txBody>
      </p:sp>
      <p:sp>
        <p:nvSpPr>
          <p:cNvPr id="42" name="Text 35"/>
          <p:cNvSpPr/>
          <p:nvPr/>
        </p:nvSpPr>
        <p:spPr>
          <a:xfrm>
            <a:off x="6565392" y="3506724"/>
            <a:ext cx="566928" cy="274320"/>
          </a:xfrm>
          <a:prstGeom prst="rect">
            <a:avLst/>
          </a:prstGeom>
          <a:noFill/>
        </p:spPr>
        <p:txBody>
          <a:bodyPr wrap="square" lIns="0" tIns="0" rIns="0" bIns="0" rtlCol="0" anchor="ctr"/>
          <a:lstStyle/>
          <a:p>
            <a:pPr marL="0" indent="0" algn="ctr">
              <a:buNone/>
            </a:pPr>
            <a:r>
              <a:rPr lang="en-US" sz="850" b="1" dirty="0">
                <a:solidFill>
                  <a:srgbClr val="FFFFFF"/>
                </a:solidFill>
                <a:latin typeface="Calibri" panose="020F0502020204030204" pitchFamily="34" charset="0"/>
                <a:ea typeface="Calibri" panose="020F0502020204030204" pitchFamily="34" charset="-122"/>
                <a:cs typeface="Calibri" panose="020F0502020204030204" pitchFamily="34" charset="-120"/>
              </a:rPr>
              <a:t>Basic</a:t>
            </a:r>
            <a:endParaRPr lang="en-US" sz="850" dirty="0"/>
          </a:p>
        </p:txBody>
      </p:sp>
      <p:sp>
        <p:nvSpPr>
          <p:cNvPr id="43" name="Text 36"/>
          <p:cNvSpPr/>
          <p:nvPr/>
        </p:nvSpPr>
        <p:spPr>
          <a:xfrm>
            <a:off x="7187184" y="3530727"/>
            <a:ext cx="1682496" cy="256032"/>
          </a:xfrm>
          <a:prstGeom prst="rect">
            <a:avLst/>
          </a:prstGeom>
          <a:noFill/>
        </p:spPr>
        <p:txBody>
          <a:bodyPr wrap="square" lIns="0" tIns="0" rIns="0" bIns="0" rtlCol="0" anchor="ctr"/>
          <a:lstStyle/>
          <a:p>
            <a:pPr marL="0" indent="0">
              <a:buNone/>
            </a:pPr>
            <a:r>
              <a:rPr lang="en-US" sz="900" dirty="0">
                <a:solidFill>
                  <a:srgbClr val="B8D0E8"/>
                </a:solidFill>
                <a:latin typeface="Calibri" panose="020F0502020204030204" pitchFamily="34" charset="0"/>
                <a:ea typeface="Calibri" panose="020F0502020204030204" pitchFamily="34" charset="-122"/>
                <a:cs typeface="Calibri" panose="020F0502020204030204" pitchFamily="34" charset="-120"/>
              </a:rPr>
              <a:t>Core workflows included</a:t>
            </a:r>
            <a:endParaRPr lang="en-US" sz="900" dirty="0"/>
          </a:p>
        </p:txBody>
      </p:sp>
      <p:sp>
        <p:nvSpPr>
          <p:cNvPr id="44" name="Shape 37"/>
          <p:cNvSpPr/>
          <p:nvPr/>
        </p:nvSpPr>
        <p:spPr>
          <a:xfrm>
            <a:off x="6565392" y="3851910"/>
            <a:ext cx="566928" cy="274320"/>
          </a:xfrm>
          <a:prstGeom prst="rect">
            <a:avLst/>
          </a:prstGeom>
          <a:solidFill>
            <a:srgbClr val="2A7D8E"/>
          </a:solidFill>
          <a:ln w="12700">
            <a:solidFill>
              <a:srgbClr val="2A7D8E"/>
            </a:solidFill>
            <a:prstDash val="solid"/>
          </a:ln>
        </p:spPr>
      </p:sp>
      <p:sp>
        <p:nvSpPr>
          <p:cNvPr id="45" name="Text 38"/>
          <p:cNvSpPr/>
          <p:nvPr/>
        </p:nvSpPr>
        <p:spPr>
          <a:xfrm>
            <a:off x="6565392" y="3853180"/>
            <a:ext cx="566928" cy="274320"/>
          </a:xfrm>
          <a:prstGeom prst="rect">
            <a:avLst/>
          </a:prstGeom>
          <a:noFill/>
        </p:spPr>
        <p:txBody>
          <a:bodyPr wrap="square" lIns="0" tIns="0" rIns="0" bIns="0" rtlCol="0" anchor="ctr"/>
          <a:lstStyle/>
          <a:p>
            <a:pPr marL="0" indent="0" algn="ctr">
              <a:buNone/>
            </a:pPr>
            <a:r>
              <a:rPr lang="en-US" sz="850" b="1" dirty="0">
                <a:solidFill>
                  <a:srgbClr val="FFFFFF"/>
                </a:solidFill>
                <a:latin typeface="Calibri" panose="020F0502020204030204" pitchFamily="34" charset="0"/>
                <a:ea typeface="Calibri" panose="020F0502020204030204" pitchFamily="34" charset="-122"/>
                <a:cs typeface="Calibri" panose="020F0502020204030204" pitchFamily="34" charset="-120"/>
              </a:rPr>
              <a:t>Tier 2</a:t>
            </a:r>
            <a:endParaRPr lang="en-US" sz="850" dirty="0"/>
          </a:p>
        </p:txBody>
      </p:sp>
      <p:sp>
        <p:nvSpPr>
          <p:cNvPr id="46" name="Text 39"/>
          <p:cNvSpPr/>
          <p:nvPr/>
        </p:nvSpPr>
        <p:spPr>
          <a:xfrm>
            <a:off x="7187184" y="3853053"/>
            <a:ext cx="1682496" cy="256032"/>
          </a:xfrm>
          <a:prstGeom prst="rect">
            <a:avLst/>
          </a:prstGeom>
          <a:noFill/>
        </p:spPr>
        <p:txBody>
          <a:bodyPr wrap="square" lIns="0" tIns="0" rIns="0" bIns="0" rtlCol="0" anchor="ctr"/>
          <a:lstStyle/>
          <a:p>
            <a:pPr marL="0" indent="0">
              <a:buNone/>
            </a:pPr>
            <a:r>
              <a:rPr lang="en-US" sz="900" dirty="0">
                <a:solidFill>
                  <a:srgbClr val="B8D0E8"/>
                </a:solidFill>
                <a:latin typeface="Calibri" panose="020F0502020204030204" pitchFamily="34" charset="0"/>
                <a:ea typeface="Calibri" panose="020F0502020204030204" pitchFamily="34" charset="-122"/>
                <a:cs typeface="Calibri" panose="020F0502020204030204" pitchFamily="34" charset="-120"/>
              </a:rPr>
              <a:t>+3 additional workflow events</a:t>
            </a:r>
            <a:endParaRPr lang="en-US" sz="900" dirty="0"/>
          </a:p>
        </p:txBody>
      </p:sp>
      <p:sp>
        <p:nvSpPr>
          <p:cNvPr id="47" name="Shape 40"/>
          <p:cNvSpPr/>
          <p:nvPr/>
        </p:nvSpPr>
        <p:spPr>
          <a:xfrm>
            <a:off x="6565392" y="4545711"/>
            <a:ext cx="566928" cy="274320"/>
          </a:xfrm>
          <a:prstGeom prst="rect">
            <a:avLst/>
          </a:prstGeom>
          <a:solidFill>
            <a:srgbClr val="D97706"/>
          </a:solidFill>
          <a:ln w="12700">
            <a:solidFill>
              <a:srgbClr val="D97706"/>
            </a:solidFill>
            <a:prstDash val="solid"/>
          </a:ln>
        </p:spPr>
      </p:sp>
      <p:sp>
        <p:nvSpPr>
          <p:cNvPr id="48" name="Text 41"/>
          <p:cNvSpPr/>
          <p:nvPr/>
        </p:nvSpPr>
        <p:spPr>
          <a:xfrm>
            <a:off x="6565392" y="4541901"/>
            <a:ext cx="566928" cy="274320"/>
          </a:xfrm>
          <a:prstGeom prst="rect">
            <a:avLst/>
          </a:prstGeom>
          <a:noFill/>
        </p:spPr>
        <p:txBody>
          <a:bodyPr wrap="square" lIns="0" tIns="0" rIns="0" bIns="0" rtlCol="0" anchor="ctr"/>
          <a:lstStyle/>
          <a:p>
            <a:pPr marL="0" indent="0" algn="ctr">
              <a:buNone/>
            </a:pPr>
            <a:r>
              <a:rPr lang="en-US" sz="850" b="1" dirty="0">
                <a:solidFill>
                  <a:srgbClr val="FFFFFF"/>
                </a:solidFill>
                <a:latin typeface="Calibri" panose="020F0502020204030204" pitchFamily="34" charset="0"/>
                <a:ea typeface="Calibri" panose="020F0502020204030204" pitchFamily="34" charset="-122"/>
                <a:cs typeface="Calibri" panose="020F0502020204030204" pitchFamily="34" charset="-120"/>
              </a:rPr>
              <a:t>Premium</a:t>
            </a:r>
            <a:endParaRPr lang="en-US" sz="850" dirty="0"/>
          </a:p>
        </p:txBody>
      </p:sp>
      <p:sp>
        <p:nvSpPr>
          <p:cNvPr id="49" name="Text 42"/>
          <p:cNvSpPr/>
          <p:nvPr/>
        </p:nvSpPr>
        <p:spPr>
          <a:xfrm>
            <a:off x="7187184" y="4560189"/>
            <a:ext cx="1682496" cy="256032"/>
          </a:xfrm>
          <a:prstGeom prst="rect">
            <a:avLst/>
          </a:prstGeom>
          <a:noFill/>
        </p:spPr>
        <p:txBody>
          <a:bodyPr wrap="square" lIns="0" tIns="0" rIns="0" bIns="0" rtlCol="0" anchor="ctr"/>
          <a:lstStyle/>
          <a:p>
            <a:pPr marL="0" indent="0">
              <a:buNone/>
            </a:pPr>
            <a:r>
              <a:rPr lang="en-US" sz="900" dirty="0">
                <a:solidFill>
                  <a:srgbClr val="B8D0E8"/>
                </a:solidFill>
                <a:latin typeface="Calibri" panose="020F0502020204030204" pitchFamily="34" charset="0"/>
                <a:ea typeface="Calibri" panose="020F0502020204030204" pitchFamily="34" charset="-122"/>
                <a:cs typeface="Calibri" panose="020F0502020204030204" pitchFamily="34" charset="-120"/>
              </a:rPr>
              <a:t>All events, full customization</a:t>
            </a:r>
            <a:endParaRPr lang="en-US" sz="900" dirty="0"/>
          </a:p>
        </p:txBody>
      </p:sp>
      <p:sp>
        <p:nvSpPr>
          <p:cNvPr id="55" name="Shape 37"/>
          <p:cNvSpPr/>
          <p:nvPr/>
        </p:nvSpPr>
        <p:spPr>
          <a:xfrm>
            <a:off x="6565392" y="4200525"/>
            <a:ext cx="566928" cy="274320"/>
          </a:xfrm>
          <a:prstGeom prst="rect">
            <a:avLst/>
          </a:prstGeom>
          <a:solidFill>
            <a:srgbClr val="2A7D8E"/>
          </a:solidFill>
          <a:ln w="12700">
            <a:solidFill>
              <a:srgbClr val="2A7D8E"/>
            </a:solidFill>
            <a:prstDash val="solid"/>
          </a:ln>
        </p:spPr>
      </p:sp>
      <p:sp>
        <p:nvSpPr>
          <p:cNvPr id="50" name="Text 38"/>
          <p:cNvSpPr/>
          <p:nvPr/>
        </p:nvSpPr>
        <p:spPr>
          <a:xfrm>
            <a:off x="6565392" y="4204970"/>
            <a:ext cx="566928" cy="274320"/>
          </a:xfrm>
          <a:prstGeom prst="rect">
            <a:avLst/>
          </a:prstGeom>
          <a:noFill/>
        </p:spPr>
        <p:txBody>
          <a:bodyPr wrap="square" lIns="0" tIns="0" rIns="0" bIns="0" rtlCol="0" anchor="ctr"/>
          <a:lstStyle/>
          <a:p>
            <a:pPr marL="0" indent="0" algn="ctr">
              <a:buNone/>
            </a:pPr>
            <a:r>
              <a:rPr lang="en-US" sz="850" b="1" dirty="0">
                <a:solidFill>
                  <a:srgbClr val="FFFFFF"/>
                </a:solidFill>
                <a:latin typeface="Calibri" panose="020F0502020204030204" pitchFamily="34" charset="0"/>
                <a:ea typeface="Calibri" panose="020F0502020204030204" pitchFamily="34" charset="-122"/>
                <a:cs typeface="Calibri" panose="020F0502020204030204" pitchFamily="34" charset="-120"/>
              </a:rPr>
              <a:t>Tier 3</a:t>
            </a:r>
            <a:endParaRPr lang="en-US" sz="850" dirty="0"/>
          </a:p>
        </p:txBody>
      </p:sp>
      <p:sp>
        <p:nvSpPr>
          <p:cNvPr id="51" name="Text 39"/>
          <p:cNvSpPr/>
          <p:nvPr/>
        </p:nvSpPr>
        <p:spPr>
          <a:xfrm>
            <a:off x="7187184" y="4223258"/>
            <a:ext cx="1682496" cy="256032"/>
          </a:xfrm>
          <a:prstGeom prst="rect">
            <a:avLst/>
          </a:prstGeom>
          <a:noFill/>
        </p:spPr>
        <p:txBody>
          <a:bodyPr wrap="square" lIns="0" tIns="0" rIns="0" bIns="0" rtlCol="0" anchor="ctr"/>
          <a:lstStyle/>
          <a:p>
            <a:pPr marL="0" indent="0">
              <a:buNone/>
            </a:pPr>
            <a:r>
              <a:rPr lang="en-US" sz="900" dirty="0">
                <a:solidFill>
                  <a:srgbClr val="B8D0E8"/>
                </a:solidFill>
                <a:latin typeface="Calibri" panose="020F0502020204030204" pitchFamily="34" charset="0"/>
                <a:ea typeface="Calibri" panose="020F0502020204030204" pitchFamily="34" charset="-122"/>
                <a:cs typeface="Calibri" panose="020F0502020204030204" pitchFamily="34" charset="-120"/>
              </a:rPr>
              <a:t>+3 additional workflow events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B3560"/>
          </a:solidFill>
          <a:ln w="12700">
            <a:solidFill>
              <a:srgbClr val="1B3560"/>
            </a:solidFill>
            <a:prstDash val="solid"/>
          </a:ln>
        </p:spPr>
      </p:sp>
      <p:sp>
        <p:nvSpPr>
          <p:cNvPr id="3" name="Shape 1"/>
          <p:cNvSpPr/>
          <p:nvPr/>
        </p:nvSpPr>
        <p:spPr>
          <a:xfrm>
            <a:off x="274320" y="201168"/>
            <a:ext cx="457200" cy="256032"/>
          </a:xfrm>
          <a:prstGeom prst="rect">
            <a:avLst/>
          </a:prstGeom>
          <a:solidFill>
            <a:srgbClr val="2A7D8E"/>
          </a:solidFill>
          <a:ln w="12700">
            <a:solidFill>
              <a:srgbClr val="2A7D8E"/>
            </a:solidFill>
            <a:prstDash val="solid"/>
          </a:ln>
        </p:spPr>
      </p:sp>
      <p:sp>
        <p:nvSpPr>
          <p:cNvPr id="4" name="Text 2"/>
          <p:cNvSpPr/>
          <p:nvPr/>
        </p:nvSpPr>
        <p:spPr>
          <a:xfrm>
            <a:off x="274320" y="201168"/>
            <a:ext cx="457200" cy="256032"/>
          </a:xfrm>
          <a:prstGeom prst="rect">
            <a:avLst/>
          </a:prstGeom>
          <a:noFill/>
        </p:spPr>
        <p:txBody>
          <a:bodyPr wrap="square" lIns="0" tIns="0" rIns="0" bIns="0" rtlCol="0" anchor="ct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06</a:t>
            </a:r>
            <a:endParaRPr lang="en-US" sz="1000" dirty="0"/>
          </a:p>
        </p:txBody>
      </p:sp>
      <p:sp>
        <p:nvSpPr>
          <p:cNvPr id="5" name="Text 3"/>
          <p:cNvSpPr/>
          <p:nvPr/>
        </p:nvSpPr>
        <p:spPr>
          <a:xfrm>
            <a:off x="868680" y="164592"/>
            <a:ext cx="6400800" cy="347472"/>
          </a:xfrm>
          <a:prstGeom prst="rect">
            <a:avLst/>
          </a:prstGeom>
          <a:noFill/>
        </p:spPr>
        <p:txBody>
          <a:bodyPr wrap="square" lIns="0" tIns="0" rIns="0" bIns="0" rtlCol="0" anchor="ctr"/>
          <a:lstStyle/>
          <a:p>
            <a:pPr marL="0" indent="0">
              <a:buNone/>
            </a:pPr>
            <a:r>
              <a:rPr lang="en-US" sz="2200" b="1" dirty="0">
                <a:solidFill>
                  <a:srgbClr val="1B3560"/>
                </a:solidFill>
                <a:latin typeface="Calibri" panose="020F0502020204030204" pitchFamily="34" charset="0"/>
                <a:ea typeface="Calibri" panose="020F0502020204030204" pitchFamily="34" charset="-122"/>
                <a:cs typeface="Calibri" panose="020F0502020204030204" pitchFamily="34" charset="-120"/>
              </a:rPr>
              <a:t>Outcome &amp; Learnings</a:t>
            </a:r>
            <a:endParaRPr lang="en-US" sz="2200" dirty="0"/>
          </a:p>
        </p:txBody>
      </p:sp>
      <p:sp>
        <p:nvSpPr>
          <p:cNvPr id="6" name="Shape 4"/>
          <p:cNvSpPr/>
          <p:nvPr/>
        </p:nvSpPr>
        <p:spPr>
          <a:xfrm>
            <a:off x="274320" y="658368"/>
            <a:ext cx="2697480" cy="1874520"/>
          </a:xfrm>
          <a:prstGeom prst="rect">
            <a:avLst/>
          </a:prstGeom>
          <a:solidFill>
            <a:srgbClr val="1B3560"/>
          </a:solidFill>
          <a:ln w="12700">
            <a:solidFill>
              <a:srgbClr val="1B3560"/>
            </a:solidFill>
            <a:prstDash val="solid"/>
          </a:ln>
        </p:spPr>
      </p:sp>
      <p:pic>
        <p:nvPicPr>
          <p:cNvPr id="7" name="Image 0" descr="preencoded.png"/>
          <p:cNvPicPr>
            <a:picLocks noChangeAspect="1"/>
          </p:cNvPicPr>
          <p:nvPr/>
        </p:nvPicPr>
        <p:blipFill>
          <a:blip r:embed="rId1"/>
          <a:stretch>
            <a:fillRect/>
          </a:stretch>
        </p:blipFill>
        <p:spPr>
          <a:xfrm>
            <a:off x="457200" y="768096"/>
            <a:ext cx="438912" cy="438912"/>
          </a:xfrm>
          <a:prstGeom prst="rect">
            <a:avLst/>
          </a:prstGeom>
        </p:spPr>
      </p:pic>
      <p:sp>
        <p:nvSpPr>
          <p:cNvPr id="8" name="Text 5"/>
          <p:cNvSpPr/>
          <p:nvPr/>
        </p:nvSpPr>
        <p:spPr>
          <a:xfrm>
            <a:off x="274320" y="1261872"/>
            <a:ext cx="2697480" cy="685800"/>
          </a:xfrm>
          <a:prstGeom prst="rect">
            <a:avLst/>
          </a:prstGeom>
          <a:noFill/>
        </p:spPr>
        <p:txBody>
          <a:bodyPr wrap="square" lIns="0" tIns="0" rIns="0" bIns="0" rtlCol="0" anchor="ctr"/>
          <a:lstStyle/>
          <a:p>
            <a:pPr marL="0" indent="0" algn="ctr">
              <a:buNone/>
            </a:pPr>
            <a:r>
              <a:rPr lang="en-US" sz="4400" b="1" dirty="0">
                <a:solidFill>
                  <a:srgbClr val="FFFFFF"/>
                </a:solidFill>
                <a:latin typeface="Calibri" panose="020F0502020204030204" pitchFamily="34" charset="0"/>
                <a:ea typeface="Calibri" panose="020F0502020204030204" pitchFamily="34" charset="-122"/>
                <a:cs typeface="Calibri" panose="020F0502020204030204" pitchFamily="34" charset="-120"/>
              </a:rPr>
              <a:t>120</a:t>
            </a:r>
            <a:endParaRPr lang="en-US" sz="4400" dirty="0"/>
          </a:p>
        </p:txBody>
      </p:sp>
      <p:sp>
        <p:nvSpPr>
          <p:cNvPr id="9" name="Text 6"/>
          <p:cNvSpPr/>
          <p:nvPr/>
        </p:nvSpPr>
        <p:spPr>
          <a:xfrm>
            <a:off x="274320" y="1993392"/>
            <a:ext cx="2697480" cy="420624"/>
          </a:xfrm>
          <a:prstGeom prst="rect">
            <a:avLst/>
          </a:prstGeom>
          <a:noFill/>
        </p:spPr>
        <p:txBody>
          <a:bodyPr wrap="square" lIns="0" tIns="0" rIns="0" bIns="0" rtlCol="0" anchor="ctr"/>
          <a:lstStyle/>
          <a:p>
            <a:pPr marL="0" indent="0" algn="ctr">
              <a:buNone/>
            </a:pPr>
            <a:r>
              <a:rPr lang="en-US" sz="1050" dirty="0">
                <a:solidFill>
                  <a:srgbClr val="A8C4D8"/>
                </a:solidFill>
                <a:latin typeface="Calibri" panose="020F0502020204030204" pitchFamily="34" charset="0"/>
                <a:ea typeface="Calibri" panose="020F0502020204030204" pitchFamily="34" charset="-122"/>
                <a:cs typeface="Calibri" panose="020F0502020204030204" pitchFamily="34" charset="-120"/>
              </a:rPr>
              <a:t>New workflows</a:t>
            </a:r>
            <a:endParaRPr lang="en-US" sz="1050" dirty="0"/>
          </a:p>
          <a:p>
            <a:pPr marL="0" indent="0" algn="ctr">
              <a:buNone/>
            </a:pPr>
            <a:r>
              <a:rPr lang="en-US" sz="1050" dirty="0">
                <a:solidFill>
                  <a:srgbClr val="A8C4D8"/>
                </a:solidFill>
                <a:latin typeface="Calibri" panose="020F0502020204030204" pitchFamily="34" charset="0"/>
                <a:ea typeface="Calibri" panose="020F0502020204030204" pitchFamily="34" charset="-122"/>
                <a:cs typeface="Calibri" panose="020F0502020204030204" pitchFamily="34" charset="-120"/>
              </a:rPr>
              <a:t>created within 1 Month</a:t>
            </a:r>
            <a:endParaRPr lang="en-US" sz="1050" dirty="0"/>
          </a:p>
        </p:txBody>
      </p:sp>
      <p:sp>
        <p:nvSpPr>
          <p:cNvPr id="10" name="Shape 7"/>
          <p:cNvSpPr/>
          <p:nvPr/>
        </p:nvSpPr>
        <p:spPr>
          <a:xfrm>
            <a:off x="3200400" y="658368"/>
            <a:ext cx="2697480" cy="1874520"/>
          </a:xfrm>
          <a:prstGeom prst="rect">
            <a:avLst/>
          </a:prstGeom>
          <a:solidFill>
            <a:srgbClr val="2A7D8E"/>
          </a:solidFill>
          <a:ln w="12700">
            <a:solidFill>
              <a:srgbClr val="2A7D8E"/>
            </a:solidFill>
            <a:prstDash val="solid"/>
          </a:ln>
        </p:spPr>
      </p:sp>
      <p:pic>
        <p:nvPicPr>
          <p:cNvPr id="11" name="Image 1" descr="preencoded.png"/>
          <p:cNvPicPr>
            <a:picLocks noChangeAspect="1"/>
          </p:cNvPicPr>
          <p:nvPr/>
        </p:nvPicPr>
        <p:blipFill>
          <a:blip r:embed="rId2"/>
          <a:stretch>
            <a:fillRect/>
          </a:stretch>
        </p:blipFill>
        <p:spPr>
          <a:xfrm>
            <a:off x="3383280" y="768096"/>
            <a:ext cx="438912" cy="438912"/>
          </a:xfrm>
          <a:prstGeom prst="rect">
            <a:avLst/>
          </a:prstGeom>
        </p:spPr>
      </p:pic>
      <p:sp>
        <p:nvSpPr>
          <p:cNvPr id="12" name="Text 8"/>
          <p:cNvSpPr/>
          <p:nvPr/>
        </p:nvSpPr>
        <p:spPr>
          <a:xfrm>
            <a:off x="3200400" y="1261872"/>
            <a:ext cx="2697480" cy="685800"/>
          </a:xfrm>
          <a:prstGeom prst="rect">
            <a:avLst/>
          </a:prstGeom>
          <a:noFill/>
        </p:spPr>
        <p:txBody>
          <a:bodyPr wrap="square" lIns="0" tIns="0" rIns="0" bIns="0" rtlCol="0" anchor="ctr"/>
          <a:lstStyle/>
          <a:p>
            <a:pPr marL="0" indent="0" algn="ctr">
              <a:buNone/>
            </a:pPr>
            <a:r>
              <a:rPr lang="en-US" sz="3600" b="1" dirty="0">
                <a:solidFill>
                  <a:srgbClr val="FFFFFF"/>
                </a:solidFill>
                <a:latin typeface="Calibri" panose="020F0502020204030204" pitchFamily="34" charset="0"/>
                <a:ea typeface="Calibri" panose="020F0502020204030204" pitchFamily="34" charset="-122"/>
                <a:cs typeface="Calibri" panose="020F0502020204030204" pitchFamily="34" charset="-120"/>
              </a:rPr>
              <a:t>~60%</a:t>
            </a:r>
            <a:endParaRPr lang="en-US" sz="3600" dirty="0"/>
          </a:p>
        </p:txBody>
      </p:sp>
      <p:sp>
        <p:nvSpPr>
          <p:cNvPr id="13" name="Text 9"/>
          <p:cNvSpPr/>
          <p:nvPr/>
        </p:nvSpPr>
        <p:spPr>
          <a:xfrm>
            <a:off x="3200400" y="1993392"/>
            <a:ext cx="2697480" cy="420624"/>
          </a:xfrm>
          <a:prstGeom prst="rect">
            <a:avLst/>
          </a:prstGeom>
          <a:noFill/>
        </p:spPr>
        <p:txBody>
          <a:bodyPr wrap="square" lIns="0" tIns="0" rIns="0" bIns="0" rtlCol="0" anchor="ctr"/>
          <a:lstStyle/>
          <a:p>
            <a:pPr marL="0" indent="0" algn="ctr">
              <a:buNone/>
            </a:pPr>
            <a:r>
              <a:rPr lang="en-US" sz="1050" dirty="0">
                <a:solidFill>
                  <a:srgbClr val="D0F0F5"/>
                </a:solidFill>
                <a:latin typeface="Calibri" panose="020F0502020204030204" pitchFamily="34" charset="0"/>
                <a:ea typeface="Calibri" panose="020F0502020204030204" pitchFamily="34" charset="-122"/>
                <a:cs typeface="Calibri" panose="020F0502020204030204" pitchFamily="34" charset="-120"/>
              </a:rPr>
              <a:t>Reduction in manual</a:t>
            </a:r>
            <a:endParaRPr lang="en-US" sz="1050" dirty="0"/>
          </a:p>
          <a:p>
            <a:pPr marL="0" indent="0" algn="ctr">
              <a:buNone/>
            </a:pPr>
            <a:r>
              <a:rPr lang="en-US" sz="1050" dirty="0">
                <a:solidFill>
                  <a:srgbClr val="D0F0F5"/>
                </a:solidFill>
                <a:latin typeface="Calibri" panose="020F0502020204030204" pitchFamily="34" charset="0"/>
                <a:ea typeface="Calibri" panose="020F0502020204030204" pitchFamily="34" charset="-122"/>
                <a:cs typeface="Calibri" panose="020F0502020204030204" pitchFamily="34" charset="-120"/>
              </a:rPr>
              <a:t>HR admin follow-ups</a:t>
            </a:r>
            <a:endParaRPr lang="en-US" sz="1050" dirty="0"/>
          </a:p>
        </p:txBody>
      </p:sp>
      <p:sp>
        <p:nvSpPr>
          <p:cNvPr id="14" name="Shape 10"/>
          <p:cNvSpPr/>
          <p:nvPr/>
        </p:nvSpPr>
        <p:spPr>
          <a:xfrm>
            <a:off x="6126480" y="658368"/>
            <a:ext cx="2697480" cy="1874520"/>
          </a:xfrm>
          <a:prstGeom prst="rect">
            <a:avLst/>
          </a:prstGeom>
          <a:solidFill>
            <a:srgbClr val="1B3560"/>
          </a:solidFill>
          <a:ln w="12700">
            <a:solidFill>
              <a:srgbClr val="1B3560"/>
            </a:solidFill>
            <a:prstDash val="solid"/>
          </a:ln>
        </p:spPr>
      </p:sp>
      <p:pic>
        <p:nvPicPr>
          <p:cNvPr id="15" name="Image 2" descr="preencoded.png"/>
          <p:cNvPicPr>
            <a:picLocks noChangeAspect="1"/>
          </p:cNvPicPr>
          <p:nvPr/>
        </p:nvPicPr>
        <p:blipFill>
          <a:blip r:embed="rId3"/>
          <a:stretch>
            <a:fillRect/>
          </a:stretch>
        </p:blipFill>
        <p:spPr>
          <a:xfrm>
            <a:off x="6309360" y="768096"/>
            <a:ext cx="438912" cy="438912"/>
          </a:xfrm>
          <a:prstGeom prst="rect">
            <a:avLst/>
          </a:prstGeom>
        </p:spPr>
      </p:pic>
      <p:sp>
        <p:nvSpPr>
          <p:cNvPr id="16" name="Text 11"/>
          <p:cNvSpPr/>
          <p:nvPr/>
        </p:nvSpPr>
        <p:spPr>
          <a:xfrm>
            <a:off x="6126480" y="1261872"/>
            <a:ext cx="2697480" cy="685800"/>
          </a:xfrm>
          <a:prstGeom prst="rect">
            <a:avLst/>
          </a:prstGeom>
          <a:noFill/>
        </p:spPr>
        <p:txBody>
          <a:bodyPr wrap="square" lIns="0" tIns="0" rIns="0" bIns="0" rtlCol="0" anchor="ctr"/>
          <a:lstStyle/>
          <a:p>
            <a:pPr marL="0" indent="0" algn="ctr">
              <a:buNone/>
            </a:pPr>
            <a:r>
              <a:rPr lang="en-US" sz="44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4400" dirty="0"/>
          </a:p>
        </p:txBody>
      </p:sp>
      <p:sp>
        <p:nvSpPr>
          <p:cNvPr id="17" name="Text 12"/>
          <p:cNvSpPr/>
          <p:nvPr/>
        </p:nvSpPr>
        <p:spPr>
          <a:xfrm>
            <a:off x="6126480" y="1993392"/>
            <a:ext cx="2697480" cy="420624"/>
          </a:xfrm>
          <a:prstGeom prst="rect">
            <a:avLst/>
          </a:prstGeom>
          <a:noFill/>
        </p:spPr>
        <p:txBody>
          <a:bodyPr wrap="square" lIns="0" tIns="0" rIns="0" bIns="0" rtlCol="0" anchor="ctr"/>
          <a:lstStyle/>
          <a:p>
            <a:pPr marL="0" indent="0" algn="ctr">
              <a:buNone/>
            </a:pPr>
            <a:r>
              <a:rPr lang="en-US" sz="1050" dirty="0">
                <a:solidFill>
                  <a:srgbClr val="A8C4D8"/>
                </a:solidFill>
                <a:latin typeface="Calibri" panose="020F0502020204030204" pitchFamily="34" charset="0"/>
                <a:ea typeface="Calibri" panose="020F0502020204030204" pitchFamily="34" charset="-122"/>
                <a:cs typeface="Calibri" panose="020F0502020204030204" pitchFamily="34" charset="-120"/>
              </a:rPr>
              <a:t>Months discovery</a:t>
            </a:r>
            <a:endParaRPr lang="en-US" sz="1050" dirty="0"/>
          </a:p>
          <a:p>
            <a:pPr marL="0" indent="0" algn="ctr">
              <a:buNone/>
            </a:pPr>
            <a:r>
              <a:rPr lang="en-US" sz="1050" dirty="0">
                <a:solidFill>
                  <a:srgbClr val="A8C4D8"/>
                </a:solidFill>
                <a:latin typeface="Calibri" panose="020F0502020204030204" pitchFamily="34" charset="0"/>
                <a:ea typeface="Calibri" panose="020F0502020204030204" pitchFamily="34" charset="-122"/>
                <a:cs typeface="Calibri" panose="020F0502020204030204" pitchFamily="34" charset="-120"/>
              </a:rPr>
              <a:t>to full launch</a:t>
            </a:r>
            <a:endParaRPr lang="en-US" sz="1050" dirty="0"/>
          </a:p>
        </p:txBody>
      </p:sp>
      <p:sp>
        <p:nvSpPr>
          <p:cNvPr id="18" name="Shape 13"/>
          <p:cNvSpPr/>
          <p:nvPr/>
        </p:nvSpPr>
        <p:spPr>
          <a:xfrm>
            <a:off x="274320" y="2670048"/>
            <a:ext cx="8595360" cy="512064"/>
          </a:xfrm>
          <a:prstGeom prst="rect">
            <a:avLst/>
          </a:prstGeom>
          <a:solidFill>
            <a:srgbClr val="E6F4F6"/>
          </a:solidFill>
          <a:ln w="12700">
            <a:solidFill>
              <a:srgbClr val="2A7D8E"/>
            </a:solidFill>
            <a:prstDash val="solid"/>
          </a:ln>
        </p:spPr>
      </p:sp>
      <p:pic>
        <p:nvPicPr>
          <p:cNvPr id="19" name="Image 3" descr="preencoded.png"/>
          <p:cNvPicPr>
            <a:picLocks noChangeAspect="1"/>
          </p:cNvPicPr>
          <p:nvPr/>
        </p:nvPicPr>
        <p:blipFill>
          <a:blip r:embed="rId3"/>
          <a:stretch>
            <a:fillRect/>
          </a:stretch>
        </p:blipFill>
        <p:spPr>
          <a:xfrm>
            <a:off x="365760" y="2724912"/>
            <a:ext cx="310896" cy="310896"/>
          </a:xfrm>
          <a:prstGeom prst="rect">
            <a:avLst/>
          </a:prstGeom>
        </p:spPr>
      </p:pic>
      <p:sp>
        <p:nvSpPr>
          <p:cNvPr id="20" name="Text 14"/>
          <p:cNvSpPr/>
          <p:nvPr/>
        </p:nvSpPr>
        <p:spPr>
          <a:xfrm>
            <a:off x="749808" y="2734056"/>
            <a:ext cx="8001000" cy="384048"/>
          </a:xfrm>
          <a:prstGeom prst="rect">
            <a:avLst/>
          </a:prstGeom>
          <a:noFill/>
        </p:spPr>
        <p:txBody>
          <a:bodyPr wrap="square" lIns="0" tIns="0" rIns="0" bIns="0" rtlCol="0" anchor="ctr"/>
          <a:lstStyle/>
          <a:p>
            <a:pPr marL="0" indent="0">
              <a:buNone/>
            </a:pPr>
            <a:r>
              <a:rPr lang="en-US" sz="1050" dirty="0">
                <a:solidFill>
                  <a:srgbClr val="1B3560"/>
                </a:solidFill>
                <a:latin typeface="Calibri" panose="020F0502020204030204" pitchFamily="34" charset="0"/>
                <a:ea typeface="Calibri" panose="020F0502020204030204" pitchFamily="34" charset="-122"/>
                <a:cs typeface="Calibri" panose="020F0502020204030204" pitchFamily="34" charset="-120"/>
              </a:rPr>
              <a:t>120 workflows created in Month 1, strong adoption was seen. </a:t>
            </a:r>
            <a:r>
              <a:rPr lang="en-US" sz="1050" dirty="0">
                <a:solidFill>
                  <a:srgbClr val="1B3560"/>
                </a:solidFill>
                <a:latin typeface="Calibri" panose="020F0502020204030204" pitchFamily="34" charset="0"/>
                <a:ea typeface="Calibri" panose="020F0502020204030204" pitchFamily="34" charset="-122"/>
                <a:cs typeface="Calibri" panose="020F0502020204030204" pitchFamily="34" charset="-120"/>
                <a:sym typeface="+mn-ea"/>
              </a:rPr>
              <a:t>Adoption grew steadily as customers migrated to the upgraded system.</a:t>
            </a:r>
            <a:endParaRPr lang="en-US" sz="1050" dirty="0"/>
          </a:p>
          <a:p>
            <a:pPr marL="0" indent="0">
              <a:buNone/>
            </a:pPr>
            <a:r>
              <a:rPr lang="en-US" sz="1050" dirty="0">
                <a:solidFill>
                  <a:srgbClr val="1B3560"/>
                </a:solidFill>
                <a:latin typeface="Calibri" panose="020F0502020204030204" pitchFamily="34" charset="0"/>
                <a:ea typeface="Calibri" panose="020F0502020204030204" pitchFamily="34" charset="-122"/>
                <a:cs typeface="Calibri" panose="020F0502020204030204" pitchFamily="34" charset="-120"/>
              </a:rPr>
              <a:t> ~60% reduction in manual admin follow-up for events was observed in next 6 months indicating reduced manual intervention.</a:t>
            </a:r>
            <a:endParaRPr lang="en-US" sz="1050" dirty="0"/>
          </a:p>
        </p:txBody>
      </p:sp>
      <p:sp>
        <p:nvSpPr>
          <p:cNvPr id="21" name="Text 15"/>
          <p:cNvSpPr/>
          <p:nvPr/>
        </p:nvSpPr>
        <p:spPr>
          <a:xfrm>
            <a:off x="274320" y="3255264"/>
            <a:ext cx="2286000" cy="256032"/>
          </a:xfrm>
          <a:prstGeom prst="rect">
            <a:avLst/>
          </a:prstGeom>
          <a:noFill/>
        </p:spPr>
        <p:txBody>
          <a:bodyPr wrap="square" lIns="0" tIns="0" rIns="0" bIns="0" rtlCol="0" anchor="ctr"/>
          <a:lstStyle/>
          <a:p>
            <a:pPr marL="0" indent="0">
              <a:buNone/>
            </a:pPr>
            <a:r>
              <a:rPr lang="en-US" sz="1000" b="1" kern="0" spc="300" dirty="0">
                <a:solidFill>
                  <a:srgbClr val="1B3560"/>
                </a:solidFill>
                <a:latin typeface="Calibri" panose="020F0502020204030204" pitchFamily="34" charset="0"/>
                <a:ea typeface="Calibri" panose="020F0502020204030204" pitchFamily="34" charset="-122"/>
                <a:cs typeface="Calibri" panose="020F0502020204030204" pitchFamily="34" charset="-120"/>
              </a:rPr>
              <a:t>LEARNINGS</a:t>
            </a:r>
            <a:endParaRPr lang="en-US" sz="1000" dirty="0"/>
          </a:p>
        </p:txBody>
      </p:sp>
      <p:pic>
        <p:nvPicPr>
          <p:cNvPr id="22" name="Image 4" descr="preencoded.png"/>
          <p:cNvPicPr>
            <a:picLocks noChangeAspect="1"/>
          </p:cNvPicPr>
          <p:nvPr/>
        </p:nvPicPr>
        <p:blipFill>
          <a:blip r:embed="rId4"/>
          <a:stretch>
            <a:fillRect/>
          </a:stretch>
        </p:blipFill>
        <p:spPr>
          <a:xfrm>
            <a:off x="274320" y="3602736"/>
            <a:ext cx="237744" cy="237744"/>
          </a:xfrm>
          <a:prstGeom prst="rect">
            <a:avLst/>
          </a:prstGeom>
        </p:spPr>
      </p:pic>
      <p:sp>
        <p:nvSpPr>
          <p:cNvPr id="23" name="Text 16"/>
          <p:cNvSpPr/>
          <p:nvPr/>
        </p:nvSpPr>
        <p:spPr>
          <a:xfrm>
            <a:off x="603504" y="3566160"/>
            <a:ext cx="8339328" cy="365760"/>
          </a:xfrm>
          <a:prstGeom prst="rect">
            <a:avLst/>
          </a:prstGeom>
          <a:noFill/>
        </p:spPr>
        <p:txBody>
          <a:bodyPr wrap="square" lIns="0" tIns="0" rIns="0" bIns="0" rtlCol="0" anchor="ctr"/>
          <a:lstStyle/>
          <a:p>
            <a:pPr marL="0" indent="0">
              <a:buNone/>
            </a:pPr>
            <a:r>
              <a:rPr lang="en-US" sz="1100" dirty="0">
                <a:solidFill>
                  <a:srgbClr val="64748B"/>
                </a:solidFill>
                <a:latin typeface="Calibri" panose="020F0502020204030204" pitchFamily="34" charset="0"/>
                <a:ea typeface="Calibri" panose="020F0502020204030204" pitchFamily="34" charset="-122"/>
                <a:cs typeface="Calibri" panose="020F0502020204030204" pitchFamily="34" charset="-120"/>
              </a:rPr>
              <a:t>A single client request, properly investigated, revealed a platform-wide opportunity — the real skill was asking ‘why’ before jumping to ‘what’</a:t>
            </a:r>
            <a:endParaRPr lang="en-US" sz="1100" dirty="0"/>
          </a:p>
        </p:txBody>
      </p:sp>
      <p:pic>
        <p:nvPicPr>
          <p:cNvPr id="24" name="Image 5" descr="preencoded.png"/>
          <p:cNvPicPr>
            <a:picLocks noChangeAspect="1"/>
          </p:cNvPicPr>
          <p:nvPr/>
        </p:nvPicPr>
        <p:blipFill>
          <a:blip r:embed="rId4"/>
          <a:stretch>
            <a:fillRect/>
          </a:stretch>
        </p:blipFill>
        <p:spPr>
          <a:xfrm>
            <a:off x="274320" y="4023360"/>
            <a:ext cx="237744" cy="237744"/>
          </a:xfrm>
          <a:prstGeom prst="rect">
            <a:avLst/>
          </a:prstGeom>
        </p:spPr>
      </p:pic>
      <p:sp>
        <p:nvSpPr>
          <p:cNvPr id="25" name="Text 17"/>
          <p:cNvSpPr/>
          <p:nvPr/>
        </p:nvSpPr>
        <p:spPr>
          <a:xfrm>
            <a:off x="603504" y="3986784"/>
            <a:ext cx="8339328" cy="365760"/>
          </a:xfrm>
          <a:prstGeom prst="rect">
            <a:avLst/>
          </a:prstGeom>
          <a:noFill/>
        </p:spPr>
        <p:txBody>
          <a:bodyPr wrap="square" lIns="0" tIns="0" rIns="0" bIns="0" rtlCol="0" anchor="ctr"/>
          <a:lstStyle/>
          <a:p>
            <a:pPr marL="0" indent="0">
              <a:buNone/>
            </a:pPr>
            <a:r>
              <a:rPr lang="en-US" sz="1100" dirty="0">
                <a:solidFill>
                  <a:srgbClr val="64748B"/>
                </a:solidFill>
                <a:latin typeface="Calibri" panose="020F0502020204030204" pitchFamily="34" charset="0"/>
                <a:ea typeface="Calibri" panose="020F0502020204030204" pitchFamily="34" charset="-122"/>
                <a:cs typeface="Calibri" panose="020F0502020204030204" pitchFamily="34" charset="-120"/>
              </a:rPr>
              <a:t>When a client pushes back on your direction, don’t argue — show them. A mockup validated across multiple stakeholders does more than any slide deck</a:t>
            </a:r>
            <a:endParaRPr lang="en-US" sz="1100" dirty="0"/>
          </a:p>
        </p:txBody>
      </p:sp>
      <p:pic>
        <p:nvPicPr>
          <p:cNvPr id="26" name="Image 6" descr="preencoded.png"/>
          <p:cNvPicPr>
            <a:picLocks noChangeAspect="1"/>
          </p:cNvPicPr>
          <p:nvPr/>
        </p:nvPicPr>
        <p:blipFill>
          <a:blip r:embed="rId4"/>
          <a:stretch>
            <a:fillRect/>
          </a:stretch>
        </p:blipFill>
        <p:spPr>
          <a:xfrm>
            <a:off x="274320" y="4443984"/>
            <a:ext cx="237744" cy="237744"/>
          </a:xfrm>
          <a:prstGeom prst="rect">
            <a:avLst/>
          </a:prstGeom>
        </p:spPr>
      </p:pic>
      <p:sp>
        <p:nvSpPr>
          <p:cNvPr id="27" name="Text 18"/>
          <p:cNvSpPr/>
          <p:nvPr/>
        </p:nvSpPr>
        <p:spPr>
          <a:xfrm>
            <a:off x="603504" y="4407408"/>
            <a:ext cx="8339328" cy="365760"/>
          </a:xfrm>
          <a:prstGeom prst="rect">
            <a:avLst/>
          </a:prstGeom>
          <a:noFill/>
        </p:spPr>
        <p:txBody>
          <a:bodyPr wrap="square" lIns="0" tIns="0" rIns="0" bIns="0" rtlCol="0" anchor="ctr"/>
          <a:lstStyle/>
          <a:p>
            <a:pPr marL="0" indent="0">
              <a:buNone/>
            </a:pPr>
            <a:r>
              <a:rPr lang="en-US" sz="1100" dirty="0">
                <a:solidFill>
                  <a:srgbClr val="64748B"/>
                </a:solidFill>
                <a:latin typeface="Calibri" panose="020F0502020204030204" pitchFamily="34" charset="0"/>
                <a:ea typeface="Calibri" panose="020F0502020204030204" pitchFamily="34" charset="-122"/>
                <a:cs typeface="Calibri" panose="020F0502020204030204" pitchFamily="34" charset="-120"/>
              </a:rPr>
              <a:t>Tiered subscription design required balancing small business needs with enterprise demands — pricing strategy is a core PM responsibility, not just a sales function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4702</Words>
  <Application>WPS Presentation</Application>
  <PresentationFormat>On-screen Show (16:9)</PresentationFormat>
  <Paragraphs>236</Paragraphs>
  <Slides>6</Slides>
  <Notes>6</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6</vt:i4>
      </vt:variant>
    </vt:vector>
  </HeadingPairs>
  <TitlesOfParts>
    <vt:vector size="15" baseType="lpstr">
      <vt:lpstr>Arial</vt:lpstr>
      <vt:lpstr>SimSun</vt:lpstr>
      <vt:lpstr>Wingdings</vt:lpstr>
      <vt:lpstr>Calibri</vt:lpstr>
      <vt:lpstr>Calibri</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Automated Workflows — Product Case Study</dc:title>
  <dc:creator>PptxGenJS</dc:creator>
  <dc:subject>PptxGenJS Presentation</dc:subject>
  <cp:lastModifiedBy>devayani bhosale</cp:lastModifiedBy>
  <cp:revision>2</cp:revision>
  <dcterms:created xsi:type="dcterms:W3CDTF">2026-03-31T20:29:00Z</dcterms:created>
  <dcterms:modified xsi:type="dcterms:W3CDTF">2026-04-01T21:42:48Z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A452107114D04F4EBC5E78B5ABB240B1_12</vt:lpwstr>
  </property>
  <property fmtid="{D5CDD505-2E9C-101B-9397-08002B2CF9AE}" pid="3" name="KSOProductBuildVer">
    <vt:lpwstr>1033-12.1.0.25830</vt:lpwstr>
  </property>
</Properties>
</file>