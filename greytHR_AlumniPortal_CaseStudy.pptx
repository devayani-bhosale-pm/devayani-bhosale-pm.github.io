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5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A7D8E"/>
          </a:solidFill>
          <a:ln w="12700">
            <a:solidFill>
              <a:srgbClr val="2A7D8E"/>
            </a:solidFill>
            <a:prstDash val="solid"/>
          </a:ln>
        </p:spPr>
      </p:sp>
      <p:pic>
        <p:nvPicPr>
          <p:cNvPr id="3" name="Image 0" descr="preencoded.png"/>
          <p:cNvPicPr>
            <a:picLocks noChangeAspect="1"/>
          </p:cNvPicPr>
          <p:nvPr/>
        </p:nvPicPr>
        <p:blipFill>
          <a:blip r:embed="rId1">
            <a:alphaModFix amt="80000"/>
          </a:blip>
          <a:stretch>
            <a:fillRect/>
          </a:stretch>
        </p:blipFill>
        <p:spPr>
          <a:xfrm>
            <a:off x="7223760" y="320040"/>
            <a:ext cx="1600200" cy="1600200"/>
          </a:xfrm>
          <a:prstGeom prst="rect">
            <a:avLst/>
          </a:prstGeom>
        </p:spPr>
      </p:pic>
      <p:sp>
        <p:nvSpPr>
          <p:cNvPr id="4" name="Text 1"/>
          <p:cNvSpPr/>
          <p:nvPr/>
        </p:nvSpPr>
        <p:spPr>
          <a:xfrm>
            <a:off x="457200" y="914400"/>
            <a:ext cx="6400800" cy="320040"/>
          </a:xfrm>
          <a:prstGeom prst="rect">
            <a:avLst/>
          </a:prstGeom>
          <a:noFill/>
        </p:spPr>
        <p:txBody>
          <a:bodyPr wrap="square" lIns="0" tIns="0" rIns="0" bIns="0" rtlCol="0" anchor="ctr"/>
          <a:lstStyle/>
          <a:p>
            <a:pPr marL="0" indent="0">
              <a:buNone/>
            </a:pPr>
            <a:r>
              <a:rPr lang="en-US" sz="1100" b="1" kern="0" spc="400" dirty="0">
                <a:solidFill>
                  <a:srgbClr val="2A7D8E"/>
                </a:solidFill>
                <a:latin typeface="Calibri" panose="020F0502020204030204" pitchFamily="34" charset="0"/>
                <a:ea typeface="Calibri" panose="020F0502020204030204" pitchFamily="34" charset="-122"/>
                <a:cs typeface="Calibri" panose="020F0502020204030204" pitchFamily="34" charset="-120"/>
              </a:rPr>
              <a:t>PRODUCT CASE STUDY</a:t>
            </a:r>
            <a:endParaRPr lang="en-US" sz="1100" dirty="0"/>
          </a:p>
        </p:txBody>
      </p:sp>
      <p:sp>
        <p:nvSpPr>
          <p:cNvPr id="5" name="Text 2"/>
          <p:cNvSpPr/>
          <p:nvPr/>
        </p:nvSpPr>
        <p:spPr>
          <a:xfrm>
            <a:off x="457200" y="1325880"/>
            <a:ext cx="6858000" cy="914400"/>
          </a:xfrm>
          <a:prstGeom prst="rect">
            <a:avLst/>
          </a:prstGeom>
          <a:noFill/>
        </p:spPr>
        <p:txBody>
          <a:bodyPr wrap="square" lIns="0" tIns="0" rIns="0" bIns="0" rtlCol="0" anchor="ctr"/>
          <a:lstStyle/>
          <a:p>
            <a:pPr marL="0" indent="0">
              <a:buNone/>
            </a:pPr>
            <a:r>
              <a:rPr lang="en-US" sz="4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Alumni Portal</a:t>
            </a:r>
            <a:endParaRPr lang="en-US" sz="4600" dirty="0"/>
          </a:p>
        </p:txBody>
      </p:sp>
      <p:sp>
        <p:nvSpPr>
          <p:cNvPr id="6" name="Text 3"/>
          <p:cNvSpPr/>
          <p:nvPr/>
        </p:nvSpPr>
        <p:spPr>
          <a:xfrm>
            <a:off x="457200" y="2377440"/>
            <a:ext cx="7772400" cy="777240"/>
          </a:xfrm>
          <a:prstGeom prst="rect">
            <a:avLst/>
          </a:prstGeom>
          <a:noFill/>
        </p:spPr>
        <p:txBody>
          <a:bodyPr wrap="square" lIns="0" tIns="0" rIns="0" bIns="0" rtlCol="0" anchor="ctr"/>
          <a:lstStyle/>
          <a:p>
            <a:pPr marL="0" indent="0">
              <a:buNone/>
            </a:pPr>
            <a:r>
              <a:rPr lang="en-US" sz="1400" dirty="0">
                <a:solidFill>
                  <a:srgbClr val="A8C4D8"/>
                </a:solidFill>
                <a:latin typeface="Calibri" panose="020F0502020204030204" pitchFamily="34" charset="0"/>
                <a:ea typeface="Calibri" panose="020F0502020204030204" pitchFamily="34" charset="-122"/>
                <a:cs typeface="Calibri" panose="020F0502020204030204" pitchFamily="34" charset="-120"/>
              </a:rPr>
              <a:t>How an internal HR pain point inspired a self-serve</a:t>
            </a:r>
            <a:endParaRPr lang="en-US" sz="1400" dirty="0"/>
          </a:p>
          <a:p>
            <a:pPr marL="0" indent="0">
              <a:buNone/>
            </a:pPr>
            <a:r>
              <a:rPr lang="en-US" sz="1400" dirty="0">
                <a:solidFill>
                  <a:srgbClr val="A8C4D8"/>
                </a:solidFill>
                <a:latin typeface="Calibri" panose="020F0502020204030204" pitchFamily="34" charset="0"/>
                <a:ea typeface="Calibri" panose="020F0502020204030204" pitchFamily="34" charset="-122"/>
                <a:cs typeface="Calibri" panose="020F0502020204030204" pitchFamily="34" charset="-120"/>
              </a:rPr>
              <a:t>document portal that eliminated post-exit admin overhead entirely</a:t>
            </a:r>
            <a:endParaRPr lang="en-US" sz="1400" dirty="0"/>
          </a:p>
        </p:txBody>
      </p:sp>
      <p:sp>
        <p:nvSpPr>
          <p:cNvPr id="7" name="Shape 4"/>
          <p:cNvSpPr/>
          <p:nvPr/>
        </p:nvSpPr>
        <p:spPr>
          <a:xfrm>
            <a:off x="457200" y="3364992"/>
            <a:ext cx="1993392" cy="292608"/>
          </a:xfrm>
          <a:prstGeom prst="rect">
            <a:avLst/>
          </a:prstGeom>
          <a:solidFill>
            <a:srgbClr val="1E3A5F"/>
          </a:solidFill>
          <a:ln w="12700">
            <a:solidFill>
              <a:srgbClr val="2A7D8E"/>
            </a:solidFill>
            <a:prstDash val="solid"/>
          </a:ln>
        </p:spPr>
      </p:sp>
      <p:sp>
        <p:nvSpPr>
          <p:cNvPr id="8" name="Text 5"/>
          <p:cNvSpPr/>
          <p:nvPr/>
        </p:nvSpPr>
        <p:spPr>
          <a:xfrm>
            <a:off x="457200" y="3364992"/>
            <a:ext cx="1993392" cy="292608"/>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Internally Discovered</a:t>
            </a:r>
            <a:endParaRPr lang="en-US" sz="950" dirty="0"/>
          </a:p>
        </p:txBody>
      </p:sp>
      <p:sp>
        <p:nvSpPr>
          <p:cNvPr id="9" name="Shape 6"/>
          <p:cNvSpPr/>
          <p:nvPr/>
        </p:nvSpPr>
        <p:spPr>
          <a:xfrm>
            <a:off x="2615184" y="3364992"/>
            <a:ext cx="1993392" cy="292608"/>
          </a:xfrm>
          <a:prstGeom prst="rect">
            <a:avLst/>
          </a:prstGeom>
          <a:solidFill>
            <a:srgbClr val="1E3A5F"/>
          </a:solidFill>
          <a:ln w="12700">
            <a:solidFill>
              <a:srgbClr val="2A7D8E"/>
            </a:solidFill>
            <a:prstDash val="solid"/>
          </a:ln>
        </p:spPr>
      </p:sp>
      <p:sp>
        <p:nvSpPr>
          <p:cNvPr id="10" name="Text 7"/>
          <p:cNvSpPr/>
          <p:nvPr/>
        </p:nvSpPr>
        <p:spPr>
          <a:xfrm>
            <a:off x="2615184" y="3364992"/>
            <a:ext cx="1993392" cy="292608"/>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Limited-Access Portal</a:t>
            </a:r>
            <a:endParaRPr lang="en-US" sz="950" dirty="0"/>
          </a:p>
        </p:txBody>
      </p:sp>
      <p:sp>
        <p:nvSpPr>
          <p:cNvPr id="11" name="Shape 8"/>
          <p:cNvSpPr/>
          <p:nvPr/>
        </p:nvSpPr>
        <p:spPr>
          <a:xfrm>
            <a:off x="4773168" y="3364992"/>
            <a:ext cx="1993392" cy="292608"/>
          </a:xfrm>
          <a:prstGeom prst="rect">
            <a:avLst/>
          </a:prstGeom>
          <a:solidFill>
            <a:srgbClr val="1E3A5F"/>
          </a:solidFill>
          <a:ln w="12700">
            <a:solidFill>
              <a:srgbClr val="2A7D8E"/>
            </a:solidFill>
            <a:prstDash val="solid"/>
          </a:ln>
        </p:spPr>
      </p:sp>
      <p:sp>
        <p:nvSpPr>
          <p:cNvPr id="12" name="Text 9"/>
          <p:cNvSpPr/>
          <p:nvPr/>
        </p:nvSpPr>
        <p:spPr>
          <a:xfrm>
            <a:off x="4773168" y="3364992"/>
            <a:ext cx="1993392" cy="292608"/>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Admin One-Time Setup</a:t>
            </a:r>
            <a:endParaRPr lang="en-US" sz="950" dirty="0"/>
          </a:p>
        </p:txBody>
      </p:sp>
      <p:sp>
        <p:nvSpPr>
          <p:cNvPr id="13" name="Shape 10"/>
          <p:cNvSpPr/>
          <p:nvPr/>
        </p:nvSpPr>
        <p:spPr>
          <a:xfrm>
            <a:off x="6931152" y="3364992"/>
            <a:ext cx="1993392" cy="292608"/>
          </a:xfrm>
          <a:prstGeom prst="rect">
            <a:avLst/>
          </a:prstGeom>
          <a:solidFill>
            <a:srgbClr val="1E3A5F"/>
          </a:solidFill>
          <a:ln w="12700">
            <a:solidFill>
              <a:srgbClr val="2A7D8E"/>
            </a:solidFill>
            <a:prstDash val="solid"/>
          </a:ln>
        </p:spPr>
      </p:sp>
      <p:sp>
        <p:nvSpPr>
          <p:cNvPr id="14" name="Text 11"/>
          <p:cNvSpPr/>
          <p:nvPr/>
        </p:nvSpPr>
        <p:spPr>
          <a:xfrm>
            <a:off x="6931152" y="3364992"/>
            <a:ext cx="1993392" cy="292608"/>
          </a:xfrm>
          <a:prstGeom prst="rect">
            <a:avLst/>
          </a:prstGeom>
          <a:noFill/>
        </p:spPr>
        <p:txBody>
          <a:bodyPr wrap="square" lIns="0" tIns="0" rIns="0" bIns="0" rtlCol="0" anchor="ctr"/>
          <a:lstStyle/>
          <a:p>
            <a:pPr marL="0" indent="0" algn="ctr">
              <a:buNone/>
            </a:pPr>
            <a:r>
              <a:rPr lang="en-US" sz="950" dirty="0">
                <a:solidFill>
                  <a:srgbClr val="2A7D8E"/>
                </a:solidFill>
                <a:latin typeface="Calibri" panose="020F0502020204030204" pitchFamily="34" charset="0"/>
                <a:ea typeface="Calibri" panose="020F0502020204030204" pitchFamily="34" charset="-122"/>
                <a:cs typeface="Calibri" panose="020F0502020204030204" pitchFamily="34" charset="-120"/>
              </a:rPr>
              <a:t>Consumption-Based Add-On</a:t>
            </a:r>
            <a:endParaRPr lang="en-US" sz="950" dirty="0"/>
          </a:p>
        </p:txBody>
      </p:sp>
      <p:sp>
        <p:nvSpPr>
          <p:cNvPr id="15" name="Shape 12"/>
          <p:cNvSpPr/>
          <p:nvPr/>
        </p:nvSpPr>
        <p:spPr>
          <a:xfrm>
            <a:off x="457200" y="4206240"/>
            <a:ext cx="8229600" cy="914"/>
          </a:xfrm>
          <a:prstGeom prst="rect">
            <a:avLst/>
          </a:prstGeom>
          <a:solidFill>
            <a:srgbClr val="2A7D8E"/>
          </a:solidFill>
          <a:ln w="12700">
            <a:solidFill>
              <a:srgbClr val="2A7D8E"/>
            </a:solidFill>
            <a:prstDash val="solid"/>
          </a:ln>
        </p:spPr>
      </p:sp>
      <p:sp>
        <p:nvSpPr>
          <p:cNvPr id="16" name="Text 13"/>
          <p:cNvSpPr/>
          <p:nvPr/>
        </p:nvSpPr>
        <p:spPr>
          <a:xfrm>
            <a:off x="457200" y="4315968"/>
            <a:ext cx="8229600" cy="274320"/>
          </a:xfrm>
          <a:prstGeom prst="rect">
            <a:avLst/>
          </a:prstGeom>
          <a:noFill/>
        </p:spPr>
        <p:txBody>
          <a:bodyPr wrap="square" lIns="0" tIns="0" rIns="0" bIns="0" rtlCol="0" anchor="ctr"/>
          <a:lstStyle/>
          <a:p>
            <a:pPr marL="0" indent="0">
              <a:buNone/>
            </a:pPr>
            <a:r>
              <a:rPr lang="en-US" sz="1000" dirty="0">
                <a:solidFill>
                  <a:srgbClr val="7FA8C4"/>
                </a:solidFill>
                <a:latin typeface="Calibri" panose="020F0502020204030204" pitchFamily="34" charset="0"/>
                <a:ea typeface="Calibri" panose="020F0502020204030204" pitchFamily="34" charset="-122"/>
                <a:cs typeface="Calibri" panose="020F0502020204030204" pitchFamily="34" charset="-120"/>
              </a:rPr>
              <a:t>Devayani Bhosale  ·  Product Manager  ·  Greytip Software (greytHR)  ·  2022–2024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560"/>
          </a:solidFill>
          <a:ln w="12700">
            <a:solidFill>
              <a:srgbClr val="1B3560"/>
            </a:solidFill>
            <a:prstDash val="solid"/>
          </a:ln>
        </p:spPr>
      </p:sp>
      <p:sp>
        <p:nvSpPr>
          <p:cNvPr id="3" name="Shape 1"/>
          <p:cNvSpPr/>
          <p:nvPr/>
        </p:nvSpPr>
        <p:spPr>
          <a:xfrm>
            <a:off x="274320" y="201168"/>
            <a:ext cx="457200" cy="256032"/>
          </a:xfrm>
          <a:prstGeom prst="rect">
            <a:avLst/>
          </a:prstGeom>
          <a:solidFill>
            <a:srgbClr val="2A7D8E"/>
          </a:solidFill>
          <a:ln w="12700">
            <a:solidFill>
              <a:srgbClr val="2A7D8E"/>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000" dirty="0"/>
          </a:p>
        </p:txBody>
      </p:sp>
      <p:sp>
        <p:nvSpPr>
          <p:cNvPr id="5" name="Text 3"/>
          <p:cNvSpPr/>
          <p:nvPr/>
        </p:nvSpPr>
        <p:spPr>
          <a:xfrm>
            <a:off x="868680" y="164592"/>
            <a:ext cx="5486400" cy="347472"/>
          </a:xfrm>
          <a:prstGeom prst="rect">
            <a:avLst/>
          </a:prstGeom>
          <a:noFill/>
        </p:spPr>
        <p:txBody>
          <a:bodyPr wrap="square" lIns="0" tIns="0" rIns="0" bIns="0" rtlCol="0" anchor="ctr"/>
          <a:lstStyle/>
          <a:p>
            <a:pPr marL="0" indent="0">
              <a:buNone/>
            </a:pPr>
            <a:r>
              <a:rPr lang="en-US" sz="2200" b="1" dirty="0">
                <a:solidFill>
                  <a:srgbClr val="1B3560"/>
                </a:solidFill>
                <a:latin typeface="Calibri" panose="020F0502020204030204" pitchFamily="34" charset="0"/>
                <a:ea typeface="Calibri" panose="020F0502020204030204" pitchFamily="34" charset="-122"/>
                <a:cs typeface="Calibri" panose="020F0502020204030204" pitchFamily="34" charset="-120"/>
              </a:rPr>
              <a:t>The Problem</a:t>
            </a:r>
            <a:endParaRPr lang="en-US" sz="2200" dirty="0"/>
          </a:p>
        </p:txBody>
      </p:sp>
      <p:sp>
        <p:nvSpPr>
          <p:cNvPr id="6" name="Shape 4"/>
          <p:cNvSpPr/>
          <p:nvPr/>
        </p:nvSpPr>
        <p:spPr>
          <a:xfrm>
            <a:off x="274320" y="658368"/>
            <a:ext cx="3931920" cy="4224528"/>
          </a:xfrm>
          <a:prstGeom prst="rect">
            <a:avLst/>
          </a:prstGeom>
          <a:solidFill>
            <a:srgbClr val="1B3560"/>
          </a:solidFill>
          <a:ln w="12700">
            <a:solidFill>
              <a:srgbClr val="1B3560"/>
            </a:solidFill>
            <a:prstDash val="solid"/>
          </a:ln>
        </p:spPr>
      </p:sp>
      <p:sp>
        <p:nvSpPr>
          <p:cNvPr id="7" name="Text 5"/>
          <p:cNvSpPr/>
          <p:nvPr/>
        </p:nvSpPr>
        <p:spPr>
          <a:xfrm>
            <a:off x="457200" y="804672"/>
            <a:ext cx="1371600" cy="256032"/>
          </a:xfrm>
          <a:prstGeom prst="rect">
            <a:avLst/>
          </a:prstGeom>
          <a:noFill/>
        </p:spPr>
        <p:txBody>
          <a:bodyPr wrap="square" lIns="0" tIns="0" rIns="0" bIns="0" rtlCol="0" anchor="ctr"/>
          <a:lstStyle/>
          <a:p>
            <a:pPr marL="0" indent="0">
              <a:buNone/>
            </a:pPr>
            <a:r>
              <a:rPr lang="en-US" sz="900" b="1" kern="0" spc="300" dirty="0">
                <a:solidFill>
                  <a:srgbClr val="2A7D8E"/>
                </a:solidFill>
                <a:latin typeface="Calibri" panose="020F0502020204030204" pitchFamily="34" charset="0"/>
                <a:ea typeface="Calibri" panose="020F0502020204030204" pitchFamily="34" charset="-122"/>
                <a:cs typeface="Calibri" panose="020F0502020204030204" pitchFamily="34" charset="-120"/>
              </a:rPr>
              <a:t>ORIGIN</a:t>
            </a:r>
            <a:endParaRPr lang="en-US" sz="900" dirty="0"/>
          </a:p>
        </p:txBody>
      </p:sp>
      <p:sp>
        <p:nvSpPr>
          <p:cNvPr id="8" name="Text 6"/>
          <p:cNvSpPr/>
          <p:nvPr/>
        </p:nvSpPr>
        <p:spPr>
          <a:xfrm>
            <a:off x="457200" y="1078992"/>
            <a:ext cx="3566160" cy="640080"/>
          </a:xfrm>
          <a:prstGeom prst="rect">
            <a:avLst/>
          </a:prstGeom>
          <a:noFill/>
        </p:spPr>
        <p:txBody>
          <a:bodyPr wrap="square" lIns="0" tIns="0" rIns="0" bIns="0"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Discovered internally —</a:t>
            </a:r>
            <a:endParaRPr lang="en-US" sz="1400" dirty="0"/>
          </a:p>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not from a customer complaint</a:t>
            </a:r>
            <a:endParaRPr lang="en-US" sz="1400" dirty="0"/>
          </a:p>
        </p:txBody>
      </p:sp>
      <p:sp>
        <p:nvSpPr>
          <p:cNvPr id="9" name="Text 7"/>
          <p:cNvSpPr/>
          <p:nvPr/>
        </p:nvSpPr>
        <p:spPr>
          <a:xfrm>
            <a:off x="457200" y="1810512"/>
            <a:ext cx="3566160" cy="2468880"/>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During an internal meeting with our HR managers, we uncovered a recurring frustration: exited employees frequently contacted HR to request documents and statutory forms they had missed or lost after their last day.</a:t>
            </a:r>
            <a:endParaRPr lang="en-US" sz="1100" dirty="0"/>
          </a:p>
          <a:p>
            <a:pPr marL="0" indent="0">
              <a:buNone/>
            </a:pPr>
            <a:endParaRPr lang="en-US" sz="1100" dirty="0"/>
          </a:p>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The irony was clear that existing employees had instant access to all their documents through the employee portal. But the moment someone left the organisation, that access was revoked immediately, leaving them entirely dependent on HR for anything they needed afterwards.</a:t>
            </a:r>
            <a:endParaRPr lang="en-US" sz="1100" dirty="0"/>
          </a:p>
          <a:p>
            <a:pPr marL="0" indent="0">
              <a:buNone/>
            </a:pPr>
            <a:endParaRPr lang="en-US" sz="1100" dirty="0"/>
          </a:p>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This was creating an invisible but significant admin burden that no one had formally flagged as a product problem.</a:t>
            </a:r>
            <a:endParaRPr lang="en-US" sz="1100" dirty="0"/>
          </a:p>
        </p:txBody>
      </p:sp>
      <p:pic>
        <p:nvPicPr>
          <p:cNvPr id="10" name="Image 0" descr="preencoded.png"/>
          <p:cNvPicPr>
            <a:picLocks noChangeAspect="1"/>
          </p:cNvPicPr>
          <p:nvPr/>
        </p:nvPicPr>
        <p:blipFill>
          <a:blip r:embed="rId1"/>
          <a:stretch>
            <a:fillRect/>
          </a:stretch>
        </p:blipFill>
        <p:spPr>
          <a:xfrm>
            <a:off x="457200" y="4315968"/>
            <a:ext cx="274320" cy="274320"/>
          </a:xfrm>
          <a:prstGeom prst="rect">
            <a:avLst/>
          </a:prstGeom>
        </p:spPr>
      </p:pic>
      <p:sp>
        <p:nvSpPr>
          <p:cNvPr id="11" name="Text 8"/>
          <p:cNvSpPr/>
          <p:nvPr/>
        </p:nvSpPr>
        <p:spPr>
          <a:xfrm>
            <a:off x="804672" y="4352544"/>
            <a:ext cx="3246120" cy="256032"/>
          </a:xfrm>
          <a:prstGeom prst="rect">
            <a:avLst/>
          </a:prstGeom>
          <a:noFill/>
        </p:spPr>
        <p:txBody>
          <a:bodyPr wrap="square" lIns="0" tIns="0" rIns="0" bIns="0" rtlCol="0" anchor="ctr"/>
          <a:lstStyle/>
          <a:p>
            <a:pPr marL="0" indent="0">
              <a:buNone/>
            </a:pPr>
            <a:r>
              <a:rPr lang="en-US" sz="950" i="1" dirty="0">
                <a:solidFill>
                  <a:srgbClr val="2A7D8E"/>
                </a:solidFill>
                <a:latin typeface="Calibri" panose="020F0502020204030204" pitchFamily="34" charset="0"/>
                <a:ea typeface="Calibri" panose="020F0502020204030204" pitchFamily="34" charset="-122"/>
                <a:cs typeface="Calibri" panose="020F0502020204030204" pitchFamily="34" charset="-120"/>
              </a:rPr>
              <a:t>Insight: The solution already existed; we just needed to extend access, not build something new</a:t>
            </a:r>
            <a:endParaRPr lang="en-US" sz="950" dirty="0"/>
          </a:p>
        </p:txBody>
      </p:sp>
      <p:sp>
        <p:nvSpPr>
          <p:cNvPr id="12" name="Shape 9"/>
          <p:cNvSpPr/>
          <p:nvPr/>
        </p:nvSpPr>
        <p:spPr>
          <a:xfrm>
            <a:off x="4370832" y="658368"/>
            <a:ext cx="4572000" cy="1261872"/>
          </a:xfrm>
          <a:prstGeom prst="rect">
            <a:avLst/>
          </a:prstGeom>
          <a:solidFill>
            <a:srgbClr val="FFFFFF"/>
          </a:solidFill>
          <a:ln w="12700">
            <a:solidFill>
              <a:srgbClr val="EEF2F7"/>
            </a:solidFill>
            <a:prstDash val="solid"/>
          </a:ln>
          <a:effectLst>
            <a:outerShdw blurRad="76200" dist="25400" dir="8100000" algn="bl" rotWithShape="0">
              <a:srgbClr val="000000">
                <a:alpha val="10000"/>
              </a:srgbClr>
            </a:outerShdw>
          </a:effectLst>
        </p:spPr>
      </p:sp>
      <p:sp>
        <p:nvSpPr>
          <p:cNvPr id="13" name="Shape 10"/>
          <p:cNvSpPr/>
          <p:nvPr/>
        </p:nvSpPr>
        <p:spPr>
          <a:xfrm>
            <a:off x="4370832" y="658368"/>
            <a:ext cx="54864" cy="1261872"/>
          </a:xfrm>
          <a:prstGeom prst="rect">
            <a:avLst/>
          </a:prstGeom>
          <a:solidFill>
            <a:srgbClr val="D97706"/>
          </a:solidFill>
          <a:ln w="12700">
            <a:solidFill>
              <a:srgbClr val="D97706"/>
            </a:solidFill>
            <a:prstDash val="solid"/>
          </a:ln>
        </p:spPr>
      </p:sp>
      <p:pic>
        <p:nvPicPr>
          <p:cNvPr id="14" name="Image 1" descr="preencoded.png"/>
          <p:cNvPicPr>
            <a:picLocks noChangeAspect="1"/>
          </p:cNvPicPr>
          <p:nvPr/>
        </p:nvPicPr>
        <p:blipFill>
          <a:blip r:embed="rId2"/>
          <a:stretch>
            <a:fillRect/>
          </a:stretch>
        </p:blipFill>
        <p:spPr>
          <a:xfrm>
            <a:off x="4517136" y="804672"/>
            <a:ext cx="310896" cy="310896"/>
          </a:xfrm>
          <a:prstGeom prst="rect">
            <a:avLst/>
          </a:prstGeom>
        </p:spPr>
      </p:pic>
      <p:sp>
        <p:nvSpPr>
          <p:cNvPr id="15" name="Text 11"/>
          <p:cNvSpPr/>
          <p:nvPr/>
        </p:nvSpPr>
        <p:spPr>
          <a:xfrm>
            <a:off x="4919472" y="749808"/>
            <a:ext cx="3895344" cy="320040"/>
          </a:xfrm>
          <a:prstGeom prst="rect">
            <a:avLst/>
          </a:prstGeom>
          <a:noFill/>
        </p:spPr>
        <p:txBody>
          <a:bodyPr wrap="square" lIns="0" tIns="0" rIns="0" bIns="0" rtlCol="0" anchor="ctr"/>
          <a:lstStyle/>
          <a:p>
            <a:pPr marL="0" indent="0">
              <a:buNone/>
            </a:pPr>
            <a:r>
              <a:rPr lang="en-US" sz="1200" b="1" dirty="0">
                <a:solidFill>
                  <a:srgbClr val="1B3560"/>
                </a:solidFill>
                <a:latin typeface="Calibri" panose="020F0502020204030204" pitchFamily="34" charset="0"/>
                <a:ea typeface="Calibri" panose="020F0502020204030204" pitchFamily="34" charset="-122"/>
                <a:cs typeface="Calibri" panose="020F0502020204030204" pitchFamily="34" charset="-120"/>
              </a:rPr>
              <a:t>Admin Email Overhead</a:t>
            </a:r>
            <a:endParaRPr lang="en-US" sz="1200" dirty="0"/>
          </a:p>
        </p:txBody>
      </p:sp>
      <p:sp>
        <p:nvSpPr>
          <p:cNvPr id="16" name="Text 12"/>
          <p:cNvSpPr/>
          <p:nvPr/>
        </p:nvSpPr>
        <p:spPr>
          <a:xfrm>
            <a:off x="4919472" y="1115568"/>
            <a:ext cx="3895344" cy="7132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HR admins had to manually search for exited employee records, locate the relevant documents, and manage back-and-forth email trails for alumni.</a:t>
            </a:r>
            <a:endParaRPr lang="en-US" sz="1050" dirty="0"/>
          </a:p>
        </p:txBody>
      </p:sp>
      <p:sp>
        <p:nvSpPr>
          <p:cNvPr id="17" name="Shape 13"/>
          <p:cNvSpPr/>
          <p:nvPr/>
        </p:nvSpPr>
        <p:spPr>
          <a:xfrm>
            <a:off x="4370832" y="2066544"/>
            <a:ext cx="4572000" cy="1261872"/>
          </a:xfrm>
          <a:prstGeom prst="rect">
            <a:avLst/>
          </a:prstGeom>
          <a:solidFill>
            <a:srgbClr val="FFFFFF"/>
          </a:solidFill>
          <a:ln w="12700">
            <a:solidFill>
              <a:srgbClr val="EEF2F7"/>
            </a:solidFill>
            <a:prstDash val="solid"/>
          </a:ln>
          <a:effectLst>
            <a:outerShdw blurRad="76200" dist="25400" dir="8100000" algn="bl" rotWithShape="0">
              <a:srgbClr val="000000">
                <a:alpha val="10000"/>
              </a:srgbClr>
            </a:outerShdw>
          </a:effectLst>
        </p:spPr>
      </p:sp>
      <p:sp>
        <p:nvSpPr>
          <p:cNvPr id="18" name="Shape 14"/>
          <p:cNvSpPr/>
          <p:nvPr/>
        </p:nvSpPr>
        <p:spPr>
          <a:xfrm>
            <a:off x="4370832" y="2066544"/>
            <a:ext cx="54864" cy="1261872"/>
          </a:xfrm>
          <a:prstGeom prst="rect">
            <a:avLst/>
          </a:prstGeom>
          <a:solidFill>
            <a:srgbClr val="D97706"/>
          </a:solidFill>
          <a:ln w="12700">
            <a:solidFill>
              <a:srgbClr val="D97706"/>
            </a:solidFill>
            <a:prstDash val="solid"/>
          </a:ln>
        </p:spPr>
      </p:sp>
      <p:pic>
        <p:nvPicPr>
          <p:cNvPr id="19" name="Image 2" descr="preencoded.png"/>
          <p:cNvPicPr>
            <a:picLocks noChangeAspect="1"/>
          </p:cNvPicPr>
          <p:nvPr/>
        </p:nvPicPr>
        <p:blipFill>
          <a:blip r:embed="rId3"/>
          <a:stretch>
            <a:fillRect/>
          </a:stretch>
        </p:blipFill>
        <p:spPr>
          <a:xfrm>
            <a:off x="4517136" y="2212848"/>
            <a:ext cx="310896" cy="310896"/>
          </a:xfrm>
          <a:prstGeom prst="rect">
            <a:avLst/>
          </a:prstGeom>
        </p:spPr>
      </p:pic>
      <p:sp>
        <p:nvSpPr>
          <p:cNvPr id="20" name="Text 15"/>
          <p:cNvSpPr/>
          <p:nvPr/>
        </p:nvSpPr>
        <p:spPr>
          <a:xfrm>
            <a:off x="4919472" y="2157984"/>
            <a:ext cx="3895344" cy="320040"/>
          </a:xfrm>
          <a:prstGeom prst="rect">
            <a:avLst/>
          </a:prstGeom>
          <a:noFill/>
        </p:spPr>
        <p:txBody>
          <a:bodyPr wrap="square" lIns="0" tIns="0" rIns="0" bIns="0" rtlCol="0" anchor="ctr"/>
          <a:lstStyle/>
          <a:p>
            <a:pPr marL="0" indent="0">
              <a:buNone/>
            </a:pPr>
            <a:r>
              <a:rPr lang="en-US" sz="1200" b="1" dirty="0">
                <a:solidFill>
                  <a:srgbClr val="1B3560"/>
                </a:solidFill>
                <a:latin typeface="Calibri" panose="020F0502020204030204" pitchFamily="34" charset="0"/>
                <a:ea typeface="Calibri" panose="020F0502020204030204" pitchFamily="34" charset="-122"/>
                <a:cs typeface="Calibri" panose="020F0502020204030204" pitchFamily="34" charset="-120"/>
              </a:rPr>
              <a:t>Instant Access Revocation</a:t>
            </a:r>
            <a:endParaRPr lang="en-US" sz="1200" dirty="0"/>
          </a:p>
        </p:txBody>
      </p:sp>
      <p:sp>
        <p:nvSpPr>
          <p:cNvPr id="21" name="Text 16"/>
          <p:cNvSpPr/>
          <p:nvPr/>
        </p:nvSpPr>
        <p:spPr>
          <a:xfrm>
            <a:off x="4919472" y="2523744"/>
            <a:ext cx="3895344" cy="7132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Employee portal access was cut off the moment an employee left; even if they had pending statutory forms or documents they needed for tax, legal, or personal purposes.</a:t>
            </a:r>
            <a:endParaRPr lang="en-US" sz="1050" dirty="0"/>
          </a:p>
        </p:txBody>
      </p:sp>
      <p:sp>
        <p:nvSpPr>
          <p:cNvPr id="22" name="Shape 17"/>
          <p:cNvSpPr/>
          <p:nvPr/>
        </p:nvSpPr>
        <p:spPr>
          <a:xfrm>
            <a:off x="4370832" y="3474720"/>
            <a:ext cx="4572000" cy="1261872"/>
          </a:xfrm>
          <a:prstGeom prst="rect">
            <a:avLst/>
          </a:prstGeom>
          <a:solidFill>
            <a:srgbClr val="FFFFFF"/>
          </a:solidFill>
          <a:ln w="12700">
            <a:solidFill>
              <a:srgbClr val="EEF2F7"/>
            </a:solidFill>
            <a:prstDash val="solid"/>
          </a:ln>
          <a:effectLst>
            <a:outerShdw blurRad="76200" dist="25400" dir="8100000" algn="bl" rotWithShape="0">
              <a:srgbClr val="000000">
                <a:alpha val="10000"/>
              </a:srgbClr>
            </a:outerShdw>
          </a:effectLst>
        </p:spPr>
      </p:sp>
      <p:sp>
        <p:nvSpPr>
          <p:cNvPr id="23" name="Shape 18"/>
          <p:cNvSpPr/>
          <p:nvPr/>
        </p:nvSpPr>
        <p:spPr>
          <a:xfrm>
            <a:off x="4370832" y="3474720"/>
            <a:ext cx="54864" cy="1261872"/>
          </a:xfrm>
          <a:prstGeom prst="rect">
            <a:avLst/>
          </a:prstGeom>
          <a:solidFill>
            <a:srgbClr val="D97706"/>
          </a:solidFill>
          <a:ln w="12700">
            <a:solidFill>
              <a:srgbClr val="D97706"/>
            </a:solidFill>
            <a:prstDash val="solid"/>
          </a:ln>
        </p:spPr>
      </p:sp>
      <p:pic>
        <p:nvPicPr>
          <p:cNvPr id="24" name="Image 3" descr="preencoded.png"/>
          <p:cNvPicPr>
            <a:picLocks noChangeAspect="1"/>
          </p:cNvPicPr>
          <p:nvPr/>
        </p:nvPicPr>
        <p:blipFill>
          <a:blip r:embed="rId4"/>
          <a:stretch>
            <a:fillRect/>
          </a:stretch>
        </p:blipFill>
        <p:spPr>
          <a:xfrm>
            <a:off x="4517136" y="3621024"/>
            <a:ext cx="310896" cy="310896"/>
          </a:xfrm>
          <a:prstGeom prst="rect">
            <a:avLst/>
          </a:prstGeom>
        </p:spPr>
      </p:pic>
      <p:sp>
        <p:nvSpPr>
          <p:cNvPr id="25" name="Text 19"/>
          <p:cNvSpPr/>
          <p:nvPr/>
        </p:nvSpPr>
        <p:spPr>
          <a:xfrm>
            <a:off x="4919472" y="3566160"/>
            <a:ext cx="3895344" cy="320040"/>
          </a:xfrm>
          <a:prstGeom prst="rect">
            <a:avLst/>
          </a:prstGeom>
          <a:noFill/>
        </p:spPr>
        <p:txBody>
          <a:bodyPr wrap="square" lIns="0" tIns="0" rIns="0" bIns="0" rtlCol="0" anchor="ctr"/>
          <a:lstStyle/>
          <a:p>
            <a:pPr marL="0" indent="0">
              <a:buNone/>
            </a:pPr>
            <a:r>
              <a:rPr lang="en-US" sz="1200" b="1" dirty="0">
                <a:solidFill>
                  <a:srgbClr val="1B3560"/>
                </a:solidFill>
                <a:latin typeface="Calibri" panose="020F0502020204030204" pitchFamily="34" charset="0"/>
                <a:ea typeface="Calibri" panose="020F0502020204030204" pitchFamily="34" charset="-122"/>
                <a:cs typeface="Calibri" panose="020F0502020204030204" pitchFamily="34" charset="-120"/>
              </a:rPr>
              <a:t>No Scalable Solution</a:t>
            </a:r>
            <a:endParaRPr lang="en-US" sz="1200" dirty="0"/>
          </a:p>
        </p:txBody>
      </p:sp>
      <p:sp>
        <p:nvSpPr>
          <p:cNvPr id="26" name="Text 20"/>
          <p:cNvSpPr/>
          <p:nvPr/>
        </p:nvSpPr>
        <p:spPr>
          <a:xfrm>
            <a:off x="4919472" y="3931920"/>
            <a:ext cx="3895344" cy="713232"/>
          </a:xfrm>
          <a:prstGeom prst="rect">
            <a:avLst/>
          </a:prstGeom>
          <a:noFill/>
        </p:spPr>
        <p:txBody>
          <a:bodyPr wrap="square" lIns="0" tIns="0" rIns="0" bIns="0"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For medium to large organisations with frequent exits, this created a disproportionate admin burden with no self-serve alternative for the alumnus or the HR team.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560"/>
          </a:solidFill>
          <a:ln w="12700">
            <a:solidFill>
              <a:srgbClr val="1B3560"/>
            </a:solidFill>
            <a:prstDash val="solid"/>
          </a:ln>
        </p:spPr>
      </p:sp>
      <p:sp>
        <p:nvSpPr>
          <p:cNvPr id="3" name="Shape 1"/>
          <p:cNvSpPr/>
          <p:nvPr/>
        </p:nvSpPr>
        <p:spPr>
          <a:xfrm>
            <a:off x="274320" y="201168"/>
            <a:ext cx="457200" cy="256032"/>
          </a:xfrm>
          <a:prstGeom prst="rect">
            <a:avLst/>
          </a:prstGeom>
          <a:solidFill>
            <a:srgbClr val="2A7D8E"/>
          </a:solidFill>
          <a:ln w="12700">
            <a:solidFill>
              <a:srgbClr val="2A7D8E"/>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000" dirty="0"/>
          </a:p>
        </p:txBody>
      </p:sp>
      <p:sp>
        <p:nvSpPr>
          <p:cNvPr id="5" name="Text 3"/>
          <p:cNvSpPr/>
          <p:nvPr/>
        </p:nvSpPr>
        <p:spPr>
          <a:xfrm>
            <a:off x="868680" y="164592"/>
            <a:ext cx="5486400" cy="347472"/>
          </a:xfrm>
          <a:prstGeom prst="rect">
            <a:avLst/>
          </a:prstGeom>
          <a:noFill/>
        </p:spPr>
        <p:txBody>
          <a:bodyPr wrap="square" lIns="0" tIns="0" rIns="0" bIns="0" rtlCol="0" anchor="ctr"/>
          <a:lstStyle/>
          <a:p>
            <a:pPr marL="0" indent="0">
              <a:buNone/>
            </a:pPr>
            <a:r>
              <a:rPr lang="en-US" sz="2200" b="1" dirty="0">
                <a:solidFill>
                  <a:srgbClr val="1B3560"/>
                </a:solidFill>
                <a:latin typeface="Calibri" panose="020F0502020204030204" pitchFamily="34" charset="0"/>
                <a:ea typeface="Calibri" panose="020F0502020204030204" pitchFamily="34" charset="-122"/>
                <a:cs typeface="Calibri" panose="020F0502020204030204" pitchFamily="34" charset="-120"/>
              </a:rPr>
              <a:t>My Role &amp; Process</a:t>
            </a:r>
            <a:endParaRPr lang="en-US" sz="2200" dirty="0"/>
          </a:p>
        </p:txBody>
      </p:sp>
      <p:sp>
        <p:nvSpPr>
          <p:cNvPr id="6" name="Shape 4"/>
          <p:cNvSpPr/>
          <p:nvPr/>
        </p:nvSpPr>
        <p:spPr>
          <a:xfrm>
            <a:off x="274320" y="658368"/>
            <a:ext cx="8595360" cy="548640"/>
          </a:xfrm>
          <a:prstGeom prst="rect">
            <a:avLst/>
          </a:prstGeom>
          <a:solidFill>
            <a:srgbClr val="E6F4F6"/>
          </a:solidFill>
          <a:ln w="12700">
            <a:solidFill>
              <a:srgbClr val="2A7D8E"/>
            </a:solidFill>
            <a:prstDash val="solid"/>
          </a:ln>
        </p:spPr>
      </p:sp>
      <p:pic>
        <p:nvPicPr>
          <p:cNvPr id="7" name="Image 0" descr="preencoded.png"/>
          <p:cNvPicPr>
            <a:picLocks noChangeAspect="1"/>
          </p:cNvPicPr>
          <p:nvPr/>
        </p:nvPicPr>
        <p:blipFill>
          <a:blip r:embed="rId1"/>
          <a:stretch>
            <a:fillRect/>
          </a:stretch>
        </p:blipFill>
        <p:spPr>
          <a:xfrm>
            <a:off x="402336" y="777240"/>
            <a:ext cx="274320" cy="274320"/>
          </a:xfrm>
          <a:prstGeom prst="rect">
            <a:avLst/>
          </a:prstGeom>
        </p:spPr>
      </p:pic>
      <p:sp>
        <p:nvSpPr>
          <p:cNvPr id="8" name="Text 5"/>
          <p:cNvSpPr/>
          <p:nvPr/>
        </p:nvSpPr>
        <p:spPr>
          <a:xfrm>
            <a:off x="749808" y="740664"/>
            <a:ext cx="1554480" cy="347472"/>
          </a:xfrm>
          <a:prstGeom prst="rect">
            <a:avLst/>
          </a:prstGeom>
          <a:noFill/>
        </p:spPr>
        <p:txBody>
          <a:bodyPr wrap="square" lIns="0" tIns="0" rIns="0" bIns="0" rtlCol="0" anchor="ctr"/>
          <a:lstStyle/>
          <a:p>
            <a:pPr marL="0" indent="0">
              <a:buNone/>
            </a:pPr>
            <a:r>
              <a:rPr lang="en-US" sz="1100" b="1" dirty="0">
                <a:solidFill>
                  <a:srgbClr val="2A7D8E"/>
                </a:solidFill>
                <a:latin typeface="Calibri" panose="020F0502020204030204" pitchFamily="34" charset="0"/>
                <a:ea typeface="Calibri" panose="020F0502020204030204" pitchFamily="34" charset="-122"/>
                <a:cs typeface="Calibri" panose="020F0502020204030204" pitchFamily="34" charset="-120"/>
              </a:rPr>
              <a:t>Key PM Decision: </a:t>
            </a:r>
            <a:endParaRPr lang="en-US" sz="1100" dirty="0"/>
          </a:p>
        </p:txBody>
      </p:sp>
      <p:sp>
        <p:nvSpPr>
          <p:cNvPr id="9" name="Text 6"/>
          <p:cNvSpPr/>
          <p:nvPr/>
        </p:nvSpPr>
        <p:spPr>
          <a:xfrm>
            <a:off x="2212848" y="740664"/>
            <a:ext cx="6547104" cy="402336"/>
          </a:xfrm>
          <a:prstGeom prst="rect">
            <a:avLst/>
          </a:prstGeom>
          <a:noFill/>
        </p:spPr>
        <p:txBody>
          <a:bodyPr wrap="square" lIns="0" tIns="0" rIns="0" bIns="0" rtlCol="0" anchor="ctr"/>
          <a:lstStyle/>
          <a:p>
            <a:pPr marL="0" indent="0">
              <a:buNone/>
            </a:pPr>
            <a:r>
              <a:rPr lang="en-US" sz="1100" dirty="0">
                <a:solidFill>
                  <a:srgbClr val="1B3560"/>
                </a:solidFill>
                <a:latin typeface="Calibri" panose="020F0502020204030204" pitchFamily="34" charset="0"/>
                <a:ea typeface="Calibri" panose="020F0502020204030204" pitchFamily="34" charset="-122"/>
                <a:cs typeface="Calibri" panose="020F0502020204030204" pitchFamily="34" charset="-120"/>
              </a:rPr>
              <a:t>Rather than building a brand new post-exit tool, we extended the existing employee portal with limited access; reducing engineering effort dramatically and getting to market faster while reusing a UI employees already knew.</a:t>
            </a:r>
            <a:endParaRPr lang="en-US" sz="1100" dirty="0"/>
          </a:p>
        </p:txBody>
      </p:sp>
      <p:sp>
        <p:nvSpPr>
          <p:cNvPr id="10" name="Shape 7"/>
          <p:cNvSpPr/>
          <p:nvPr/>
        </p:nvSpPr>
        <p:spPr>
          <a:xfrm>
            <a:off x="274320" y="1316736"/>
            <a:ext cx="8595360" cy="438912"/>
          </a:xfrm>
          <a:prstGeom prst="rect">
            <a:avLst/>
          </a:prstGeom>
          <a:solidFill>
            <a:srgbClr val="1E3A5F"/>
          </a:solidFill>
          <a:ln w="12700">
            <a:solidFill>
              <a:srgbClr val="2A7D8E"/>
            </a:solidFill>
            <a:prstDash val="solid"/>
          </a:ln>
        </p:spPr>
      </p:sp>
      <p:sp>
        <p:nvSpPr>
          <p:cNvPr id="11" name="Text 8"/>
          <p:cNvSpPr/>
          <p:nvPr/>
        </p:nvSpPr>
        <p:spPr>
          <a:xfrm>
            <a:off x="457200" y="1362456"/>
            <a:ext cx="1371600" cy="310896"/>
          </a:xfrm>
          <a:prstGeom prst="rect">
            <a:avLst/>
          </a:prstGeom>
          <a:noFill/>
        </p:spPr>
        <p:txBody>
          <a:bodyPr wrap="square" lIns="0" tIns="0" rIns="0" bIns="0" rtlCol="0" anchor="ctr"/>
          <a:lstStyle/>
          <a:p>
            <a:pPr marL="0" indent="0">
              <a:buNone/>
            </a:pPr>
            <a:r>
              <a:rPr lang="en-US" sz="1100" b="1" dirty="0">
                <a:solidFill>
                  <a:srgbClr val="2A7D8E"/>
                </a:solidFill>
                <a:latin typeface="Calibri" panose="020F0502020204030204" pitchFamily="34" charset="0"/>
                <a:ea typeface="Calibri" panose="020F0502020204030204" pitchFamily="34" charset="-122"/>
                <a:cs typeface="Calibri" panose="020F0502020204030204" pitchFamily="34" charset="-120"/>
              </a:rPr>
              <a:t>Pricing strategy: </a:t>
            </a:r>
            <a:endParaRPr lang="en-US" sz="1100" dirty="0"/>
          </a:p>
        </p:txBody>
      </p:sp>
      <p:sp>
        <p:nvSpPr>
          <p:cNvPr id="12" name="Text 9"/>
          <p:cNvSpPr/>
          <p:nvPr/>
        </p:nvSpPr>
        <p:spPr>
          <a:xfrm>
            <a:off x="1755648" y="1362456"/>
            <a:ext cx="7004304" cy="310896"/>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Launched as a consumption-based add-on. Admin enables once, sets an access duration, and pays per alumnus accessing the portal. Low friction to adopt, scalable for large organisations.</a:t>
            </a:r>
            <a:endParaRPr lang="en-US" sz="1100" dirty="0"/>
          </a:p>
        </p:txBody>
      </p:sp>
      <p:sp>
        <p:nvSpPr>
          <p:cNvPr id="13" name="Shape 10"/>
          <p:cNvSpPr/>
          <p:nvPr/>
        </p:nvSpPr>
        <p:spPr>
          <a:xfrm>
            <a:off x="502920" y="2304288"/>
            <a:ext cx="8229600" cy="36576"/>
          </a:xfrm>
          <a:prstGeom prst="rect">
            <a:avLst/>
          </a:prstGeom>
          <a:solidFill>
            <a:srgbClr val="2A7D8E"/>
          </a:solidFill>
          <a:ln w="12700">
            <a:solidFill>
              <a:srgbClr val="2A7D8E"/>
            </a:solidFill>
            <a:prstDash val="solid"/>
          </a:ln>
        </p:spPr>
      </p:sp>
      <p:sp>
        <p:nvSpPr>
          <p:cNvPr id="14" name="Shape 11"/>
          <p:cNvSpPr/>
          <p:nvPr/>
        </p:nvSpPr>
        <p:spPr>
          <a:xfrm>
            <a:off x="658368" y="1993392"/>
            <a:ext cx="621792" cy="621792"/>
          </a:xfrm>
          <a:prstGeom prst="ellipse">
            <a:avLst/>
          </a:prstGeom>
          <a:solidFill>
            <a:srgbClr val="1B3560"/>
          </a:solidFill>
          <a:ln w="12700">
            <a:solidFill>
              <a:srgbClr val="2A7D8E"/>
            </a:solidFill>
            <a:prstDash val="solid"/>
          </a:ln>
        </p:spPr>
      </p:sp>
      <p:sp>
        <p:nvSpPr>
          <p:cNvPr id="15" name="Text 12"/>
          <p:cNvSpPr/>
          <p:nvPr/>
        </p:nvSpPr>
        <p:spPr>
          <a:xfrm>
            <a:off x="658368" y="1993392"/>
            <a:ext cx="621792" cy="62179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16" name="Text 13"/>
          <p:cNvSpPr/>
          <p:nvPr/>
        </p:nvSpPr>
        <p:spPr>
          <a:xfrm>
            <a:off x="329184" y="2670048"/>
            <a:ext cx="1508760" cy="384048"/>
          </a:xfrm>
          <a:prstGeom prst="rect">
            <a:avLst/>
          </a:prstGeom>
          <a:noFill/>
        </p:spPr>
        <p:txBody>
          <a:bodyPr wrap="square" lIns="0" tIns="0" rIns="0" bIns="0" rtlCol="0" anchor="ctr"/>
          <a:lstStyle/>
          <a:p>
            <a:pPr marL="0" indent="0" algn="ctr">
              <a:buNone/>
            </a:pPr>
            <a:r>
              <a:rPr lang="en-US" sz="1100" b="1" dirty="0">
                <a:solidFill>
                  <a:srgbClr val="1B3560"/>
                </a:solidFill>
                <a:latin typeface="Calibri" panose="020F0502020204030204" pitchFamily="34" charset="0"/>
                <a:ea typeface="Calibri" panose="020F0502020204030204" pitchFamily="34" charset="-122"/>
                <a:cs typeface="Calibri" panose="020F0502020204030204" pitchFamily="34" charset="-120"/>
              </a:rPr>
              <a:t>Discovery</a:t>
            </a:r>
            <a:endParaRPr lang="en-US" sz="1100" dirty="0"/>
          </a:p>
        </p:txBody>
      </p:sp>
      <p:sp>
        <p:nvSpPr>
          <p:cNvPr id="17" name="Shape 14"/>
          <p:cNvSpPr/>
          <p:nvPr/>
        </p:nvSpPr>
        <p:spPr>
          <a:xfrm>
            <a:off x="329184" y="3108960"/>
            <a:ext cx="1508760" cy="1783080"/>
          </a:xfrm>
          <a:prstGeom prst="rect">
            <a:avLst/>
          </a:prstGeom>
          <a:solidFill>
            <a:srgbClr val="FFFFFF"/>
          </a:solidFill>
          <a:ln w="12700">
            <a:solidFill>
              <a:srgbClr val="EEF2F7"/>
            </a:solidFill>
            <a:prstDash val="solid"/>
          </a:ln>
        </p:spPr>
      </p:sp>
      <p:sp>
        <p:nvSpPr>
          <p:cNvPr id="18" name="Shape 15"/>
          <p:cNvSpPr/>
          <p:nvPr/>
        </p:nvSpPr>
        <p:spPr>
          <a:xfrm>
            <a:off x="329184" y="3108960"/>
            <a:ext cx="1508760" cy="45720"/>
          </a:xfrm>
          <a:prstGeom prst="rect">
            <a:avLst/>
          </a:prstGeom>
          <a:solidFill>
            <a:srgbClr val="2A7D8E"/>
          </a:solidFill>
          <a:ln w="12700">
            <a:solidFill>
              <a:srgbClr val="2A7D8E"/>
            </a:solidFill>
            <a:prstDash val="solid"/>
          </a:ln>
        </p:spPr>
      </p:sp>
      <p:sp>
        <p:nvSpPr>
          <p:cNvPr id="19" name="Text 16"/>
          <p:cNvSpPr/>
          <p:nvPr/>
        </p:nvSpPr>
        <p:spPr>
          <a:xfrm>
            <a:off x="384048" y="3200400"/>
            <a:ext cx="1389888" cy="1627632"/>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Internal HR</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meeting surfaced</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the pain point</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Confirmed no</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existing solution</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in platform</a:t>
            </a:r>
            <a:endParaRPr lang="en-US" sz="950" dirty="0"/>
          </a:p>
        </p:txBody>
      </p:sp>
      <p:sp>
        <p:nvSpPr>
          <p:cNvPr id="20" name="Shape 17"/>
          <p:cNvSpPr/>
          <p:nvPr/>
        </p:nvSpPr>
        <p:spPr>
          <a:xfrm>
            <a:off x="2359152" y="1993392"/>
            <a:ext cx="621792" cy="621792"/>
          </a:xfrm>
          <a:prstGeom prst="ellipse">
            <a:avLst/>
          </a:prstGeom>
          <a:solidFill>
            <a:srgbClr val="1B3560"/>
          </a:solidFill>
          <a:ln w="12700">
            <a:solidFill>
              <a:srgbClr val="2A7D8E"/>
            </a:solidFill>
            <a:prstDash val="solid"/>
          </a:ln>
        </p:spPr>
      </p:sp>
      <p:sp>
        <p:nvSpPr>
          <p:cNvPr id="21" name="Text 18"/>
          <p:cNvSpPr/>
          <p:nvPr/>
        </p:nvSpPr>
        <p:spPr>
          <a:xfrm>
            <a:off x="2359152" y="1993392"/>
            <a:ext cx="621792" cy="62179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22" name="Text 19"/>
          <p:cNvSpPr/>
          <p:nvPr/>
        </p:nvSpPr>
        <p:spPr>
          <a:xfrm>
            <a:off x="2029968" y="2670048"/>
            <a:ext cx="1508760" cy="384048"/>
          </a:xfrm>
          <a:prstGeom prst="rect">
            <a:avLst/>
          </a:prstGeom>
          <a:noFill/>
        </p:spPr>
        <p:txBody>
          <a:bodyPr wrap="square" lIns="0" tIns="0" rIns="0" bIns="0" rtlCol="0" anchor="ctr"/>
          <a:lstStyle/>
          <a:p>
            <a:pPr marL="0" indent="0" algn="ctr">
              <a:buNone/>
            </a:pPr>
            <a:r>
              <a:rPr lang="en-US" sz="1100" b="1" dirty="0">
                <a:solidFill>
                  <a:srgbClr val="1B3560"/>
                </a:solidFill>
                <a:latin typeface="Calibri" panose="020F0502020204030204" pitchFamily="34" charset="0"/>
                <a:ea typeface="Calibri" panose="020F0502020204030204" pitchFamily="34" charset="-122"/>
                <a:cs typeface="Calibri" panose="020F0502020204030204" pitchFamily="34" charset="-120"/>
              </a:rPr>
              <a:t>Validate</a:t>
            </a:r>
            <a:endParaRPr lang="en-US" sz="1100" dirty="0"/>
          </a:p>
        </p:txBody>
      </p:sp>
      <p:sp>
        <p:nvSpPr>
          <p:cNvPr id="23" name="Shape 20"/>
          <p:cNvSpPr/>
          <p:nvPr/>
        </p:nvSpPr>
        <p:spPr>
          <a:xfrm>
            <a:off x="2029968" y="3108960"/>
            <a:ext cx="1508760" cy="1783080"/>
          </a:xfrm>
          <a:prstGeom prst="rect">
            <a:avLst/>
          </a:prstGeom>
          <a:solidFill>
            <a:srgbClr val="FFFFFF"/>
          </a:solidFill>
          <a:ln w="12700">
            <a:solidFill>
              <a:srgbClr val="EEF2F7"/>
            </a:solidFill>
            <a:prstDash val="solid"/>
          </a:ln>
        </p:spPr>
      </p:sp>
      <p:sp>
        <p:nvSpPr>
          <p:cNvPr id="24" name="Shape 21"/>
          <p:cNvSpPr/>
          <p:nvPr/>
        </p:nvSpPr>
        <p:spPr>
          <a:xfrm>
            <a:off x="2029968" y="3108960"/>
            <a:ext cx="1508760" cy="45720"/>
          </a:xfrm>
          <a:prstGeom prst="rect">
            <a:avLst/>
          </a:prstGeom>
          <a:solidFill>
            <a:srgbClr val="2A7D8E"/>
          </a:solidFill>
          <a:ln w="12700">
            <a:solidFill>
              <a:srgbClr val="2A7D8E"/>
            </a:solidFill>
            <a:prstDash val="solid"/>
          </a:ln>
        </p:spPr>
      </p:sp>
      <p:sp>
        <p:nvSpPr>
          <p:cNvPr id="25" name="Text 22"/>
          <p:cNvSpPr/>
          <p:nvPr/>
        </p:nvSpPr>
        <p:spPr>
          <a:xfrm>
            <a:off x="2084832" y="3200400"/>
            <a:ext cx="1389888" cy="1627632"/>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Spoke to medium</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and large business</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customers</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Confirmed admin</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overhead was real</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and widespread</a:t>
            </a:r>
            <a:endParaRPr lang="en-US" sz="950" dirty="0"/>
          </a:p>
        </p:txBody>
      </p:sp>
      <p:sp>
        <p:nvSpPr>
          <p:cNvPr id="26" name="Shape 23"/>
          <p:cNvSpPr/>
          <p:nvPr/>
        </p:nvSpPr>
        <p:spPr>
          <a:xfrm>
            <a:off x="4059936" y="1993392"/>
            <a:ext cx="621792" cy="621792"/>
          </a:xfrm>
          <a:prstGeom prst="ellipse">
            <a:avLst/>
          </a:prstGeom>
          <a:solidFill>
            <a:srgbClr val="1B3560"/>
          </a:solidFill>
          <a:ln w="12700">
            <a:solidFill>
              <a:srgbClr val="2A7D8E"/>
            </a:solidFill>
            <a:prstDash val="solid"/>
          </a:ln>
        </p:spPr>
      </p:sp>
      <p:sp>
        <p:nvSpPr>
          <p:cNvPr id="27" name="Text 24"/>
          <p:cNvSpPr/>
          <p:nvPr/>
        </p:nvSpPr>
        <p:spPr>
          <a:xfrm>
            <a:off x="4059936" y="1993392"/>
            <a:ext cx="621792" cy="62179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28" name="Text 25"/>
          <p:cNvSpPr/>
          <p:nvPr/>
        </p:nvSpPr>
        <p:spPr>
          <a:xfrm>
            <a:off x="3730752" y="2670048"/>
            <a:ext cx="1508760" cy="384048"/>
          </a:xfrm>
          <a:prstGeom prst="rect">
            <a:avLst/>
          </a:prstGeom>
          <a:noFill/>
        </p:spPr>
        <p:txBody>
          <a:bodyPr wrap="square" lIns="0" tIns="0" rIns="0" bIns="0" rtlCol="0" anchor="ctr"/>
          <a:lstStyle/>
          <a:p>
            <a:pPr marL="0" indent="0" algn="ctr">
              <a:buNone/>
            </a:pPr>
            <a:r>
              <a:rPr lang="en-US" sz="1100" b="1" dirty="0">
                <a:solidFill>
                  <a:srgbClr val="1B3560"/>
                </a:solidFill>
                <a:latin typeface="Calibri" panose="020F0502020204030204" pitchFamily="34" charset="0"/>
                <a:ea typeface="Calibri" panose="020F0502020204030204" pitchFamily="34" charset="-122"/>
                <a:cs typeface="Calibri" panose="020F0502020204030204" pitchFamily="34" charset="-120"/>
              </a:rPr>
              <a:t>Define &amp; Design</a:t>
            </a:r>
            <a:endParaRPr lang="en-US" sz="1100" dirty="0"/>
          </a:p>
        </p:txBody>
      </p:sp>
      <p:sp>
        <p:nvSpPr>
          <p:cNvPr id="29" name="Shape 26"/>
          <p:cNvSpPr/>
          <p:nvPr/>
        </p:nvSpPr>
        <p:spPr>
          <a:xfrm>
            <a:off x="3730752" y="3108960"/>
            <a:ext cx="1508760" cy="1783080"/>
          </a:xfrm>
          <a:prstGeom prst="rect">
            <a:avLst/>
          </a:prstGeom>
          <a:solidFill>
            <a:srgbClr val="FFFFFF"/>
          </a:solidFill>
          <a:ln w="12700">
            <a:solidFill>
              <a:srgbClr val="EEF2F7"/>
            </a:solidFill>
            <a:prstDash val="solid"/>
          </a:ln>
        </p:spPr>
      </p:sp>
      <p:sp>
        <p:nvSpPr>
          <p:cNvPr id="30" name="Shape 27"/>
          <p:cNvSpPr/>
          <p:nvPr/>
        </p:nvSpPr>
        <p:spPr>
          <a:xfrm>
            <a:off x="3730752" y="3108960"/>
            <a:ext cx="1508760" cy="45720"/>
          </a:xfrm>
          <a:prstGeom prst="rect">
            <a:avLst/>
          </a:prstGeom>
          <a:solidFill>
            <a:srgbClr val="2A7D8E"/>
          </a:solidFill>
          <a:ln w="12700">
            <a:solidFill>
              <a:srgbClr val="2A7D8E"/>
            </a:solidFill>
            <a:prstDash val="solid"/>
          </a:ln>
        </p:spPr>
      </p:sp>
      <p:sp>
        <p:nvSpPr>
          <p:cNvPr id="31" name="Text 28"/>
          <p:cNvSpPr/>
          <p:nvPr/>
        </p:nvSpPr>
        <p:spPr>
          <a:xfrm>
            <a:off x="3785616" y="3200400"/>
            <a:ext cx="1389888" cy="1627632"/>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Defined limited</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access scope</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Designed admin</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one-time setup</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Set duration</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configuration</a:t>
            </a:r>
            <a:endParaRPr lang="en-US" sz="950" dirty="0"/>
          </a:p>
        </p:txBody>
      </p:sp>
      <p:sp>
        <p:nvSpPr>
          <p:cNvPr id="32" name="Shape 29"/>
          <p:cNvSpPr/>
          <p:nvPr/>
        </p:nvSpPr>
        <p:spPr>
          <a:xfrm>
            <a:off x="5760720" y="1993392"/>
            <a:ext cx="621792" cy="621792"/>
          </a:xfrm>
          <a:prstGeom prst="ellipse">
            <a:avLst/>
          </a:prstGeom>
          <a:solidFill>
            <a:srgbClr val="1B3560"/>
          </a:solidFill>
          <a:ln w="12700">
            <a:solidFill>
              <a:srgbClr val="2A7D8E"/>
            </a:solidFill>
            <a:prstDash val="solid"/>
          </a:ln>
        </p:spPr>
      </p:sp>
      <p:sp>
        <p:nvSpPr>
          <p:cNvPr id="33" name="Text 30"/>
          <p:cNvSpPr/>
          <p:nvPr/>
        </p:nvSpPr>
        <p:spPr>
          <a:xfrm>
            <a:off x="5760720" y="1993392"/>
            <a:ext cx="621792" cy="62179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34" name="Text 31"/>
          <p:cNvSpPr/>
          <p:nvPr/>
        </p:nvSpPr>
        <p:spPr>
          <a:xfrm>
            <a:off x="5431536" y="2670048"/>
            <a:ext cx="1508760" cy="384048"/>
          </a:xfrm>
          <a:prstGeom prst="rect">
            <a:avLst/>
          </a:prstGeom>
          <a:noFill/>
        </p:spPr>
        <p:txBody>
          <a:bodyPr wrap="square" lIns="0" tIns="0" rIns="0" bIns="0" rtlCol="0" anchor="ctr"/>
          <a:lstStyle/>
          <a:p>
            <a:pPr marL="0" indent="0" algn="ctr">
              <a:buNone/>
            </a:pPr>
            <a:r>
              <a:rPr lang="en-US" sz="1100" b="1" dirty="0">
                <a:solidFill>
                  <a:srgbClr val="1B3560"/>
                </a:solidFill>
                <a:latin typeface="Calibri" panose="020F0502020204030204" pitchFamily="34" charset="0"/>
                <a:ea typeface="Calibri" panose="020F0502020204030204" pitchFamily="34" charset="-122"/>
                <a:cs typeface="Calibri" panose="020F0502020204030204" pitchFamily="34" charset="-120"/>
              </a:rPr>
              <a:t>Build &amp; Test</a:t>
            </a:r>
            <a:endParaRPr lang="en-US" sz="1100" dirty="0"/>
          </a:p>
        </p:txBody>
      </p:sp>
      <p:sp>
        <p:nvSpPr>
          <p:cNvPr id="35" name="Shape 32"/>
          <p:cNvSpPr/>
          <p:nvPr/>
        </p:nvSpPr>
        <p:spPr>
          <a:xfrm>
            <a:off x="5431536" y="3108960"/>
            <a:ext cx="1508760" cy="1783080"/>
          </a:xfrm>
          <a:prstGeom prst="rect">
            <a:avLst/>
          </a:prstGeom>
          <a:solidFill>
            <a:srgbClr val="FFFFFF"/>
          </a:solidFill>
          <a:ln w="12700">
            <a:solidFill>
              <a:srgbClr val="EEF2F7"/>
            </a:solidFill>
            <a:prstDash val="solid"/>
          </a:ln>
        </p:spPr>
      </p:sp>
      <p:sp>
        <p:nvSpPr>
          <p:cNvPr id="36" name="Shape 33"/>
          <p:cNvSpPr/>
          <p:nvPr/>
        </p:nvSpPr>
        <p:spPr>
          <a:xfrm>
            <a:off x="5431536" y="3108960"/>
            <a:ext cx="1508760" cy="45720"/>
          </a:xfrm>
          <a:prstGeom prst="rect">
            <a:avLst/>
          </a:prstGeom>
          <a:solidFill>
            <a:srgbClr val="2A7D8E"/>
          </a:solidFill>
          <a:ln w="12700">
            <a:solidFill>
              <a:srgbClr val="2A7D8E"/>
            </a:solidFill>
            <a:prstDash val="solid"/>
          </a:ln>
        </p:spPr>
      </p:sp>
      <p:sp>
        <p:nvSpPr>
          <p:cNvPr id="37" name="Text 34"/>
          <p:cNvSpPr/>
          <p:nvPr/>
        </p:nvSpPr>
        <p:spPr>
          <a:xfrm>
            <a:off x="5486400" y="3200400"/>
            <a:ext cx="1389888" cy="1627632"/>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Extended existing</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employee portal</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Built access</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revocation logic</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QA for edge</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cases on exit flow</a:t>
            </a:r>
            <a:endParaRPr lang="en-US" sz="950" dirty="0"/>
          </a:p>
        </p:txBody>
      </p:sp>
      <p:sp>
        <p:nvSpPr>
          <p:cNvPr id="38" name="Shape 35"/>
          <p:cNvSpPr/>
          <p:nvPr/>
        </p:nvSpPr>
        <p:spPr>
          <a:xfrm>
            <a:off x="7461504" y="1993392"/>
            <a:ext cx="621792" cy="621792"/>
          </a:xfrm>
          <a:prstGeom prst="ellipse">
            <a:avLst/>
          </a:prstGeom>
          <a:solidFill>
            <a:srgbClr val="1B3560"/>
          </a:solidFill>
          <a:ln w="12700">
            <a:solidFill>
              <a:srgbClr val="2A7D8E"/>
            </a:solidFill>
            <a:prstDash val="solid"/>
          </a:ln>
        </p:spPr>
      </p:sp>
      <p:sp>
        <p:nvSpPr>
          <p:cNvPr id="39" name="Text 36"/>
          <p:cNvSpPr/>
          <p:nvPr/>
        </p:nvSpPr>
        <p:spPr>
          <a:xfrm>
            <a:off x="7461504" y="1993392"/>
            <a:ext cx="621792" cy="621792"/>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40" name="Text 37"/>
          <p:cNvSpPr/>
          <p:nvPr/>
        </p:nvSpPr>
        <p:spPr>
          <a:xfrm>
            <a:off x="7132320" y="2670048"/>
            <a:ext cx="1508760" cy="384048"/>
          </a:xfrm>
          <a:prstGeom prst="rect">
            <a:avLst/>
          </a:prstGeom>
          <a:noFill/>
        </p:spPr>
        <p:txBody>
          <a:bodyPr wrap="square" lIns="0" tIns="0" rIns="0" bIns="0" rtlCol="0" anchor="ctr"/>
          <a:lstStyle/>
          <a:p>
            <a:pPr marL="0" indent="0" algn="ctr">
              <a:buNone/>
            </a:pPr>
            <a:r>
              <a:rPr lang="en-US" sz="1100" b="1" dirty="0">
                <a:solidFill>
                  <a:srgbClr val="1B3560"/>
                </a:solidFill>
                <a:latin typeface="Calibri" panose="020F0502020204030204" pitchFamily="34" charset="0"/>
                <a:ea typeface="Calibri" panose="020F0502020204030204" pitchFamily="34" charset="-122"/>
                <a:cs typeface="Calibri" panose="020F0502020204030204" pitchFamily="34" charset="-120"/>
              </a:rPr>
              <a:t>Launch</a:t>
            </a:r>
            <a:endParaRPr lang="en-US" sz="1100" dirty="0"/>
          </a:p>
        </p:txBody>
      </p:sp>
      <p:sp>
        <p:nvSpPr>
          <p:cNvPr id="41" name="Shape 38"/>
          <p:cNvSpPr/>
          <p:nvPr/>
        </p:nvSpPr>
        <p:spPr>
          <a:xfrm>
            <a:off x="7132320" y="3108960"/>
            <a:ext cx="1508760" cy="1783080"/>
          </a:xfrm>
          <a:prstGeom prst="rect">
            <a:avLst/>
          </a:prstGeom>
          <a:solidFill>
            <a:srgbClr val="FFFFFF"/>
          </a:solidFill>
          <a:ln w="12700">
            <a:solidFill>
              <a:srgbClr val="EEF2F7"/>
            </a:solidFill>
            <a:prstDash val="solid"/>
          </a:ln>
        </p:spPr>
      </p:sp>
      <p:sp>
        <p:nvSpPr>
          <p:cNvPr id="42" name="Shape 39"/>
          <p:cNvSpPr/>
          <p:nvPr/>
        </p:nvSpPr>
        <p:spPr>
          <a:xfrm>
            <a:off x="7132320" y="3108960"/>
            <a:ext cx="1508760" cy="45720"/>
          </a:xfrm>
          <a:prstGeom prst="rect">
            <a:avLst/>
          </a:prstGeom>
          <a:solidFill>
            <a:srgbClr val="2A7D8E"/>
          </a:solidFill>
          <a:ln w="12700">
            <a:solidFill>
              <a:srgbClr val="2A7D8E"/>
            </a:solidFill>
            <a:prstDash val="solid"/>
          </a:ln>
        </p:spPr>
      </p:sp>
      <p:sp>
        <p:nvSpPr>
          <p:cNvPr id="43" name="Text 40"/>
          <p:cNvSpPr/>
          <p:nvPr/>
        </p:nvSpPr>
        <p:spPr>
          <a:xfrm>
            <a:off x="7187184" y="3200400"/>
            <a:ext cx="1389888" cy="1627632"/>
          </a:xfrm>
          <a:prstGeom prst="rect">
            <a:avLst/>
          </a:prstGeom>
          <a:noFill/>
        </p:spPr>
        <p:txBody>
          <a:bodyPr wrap="square" lIns="0" tIns="0" rIns="0" bIns="0" rtlCol="0" anchor="ctr"/>
          <a:lstStyle/>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Released as</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consumption add-on</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Targeted medium</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to large orgs</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Customer</a:t>
            </a:r>
            <a:endParaRPr lang="en-US" sz="950" dirty="0"/>
          </a:p>
          <a:p>
            <a:pPr marL="0" indent="0">
              <a:buNone/>
            </a:pPr>
            <a:r>
              <a:rPr lang="en-US" sz="950" dirty="0">
                <a:solidFill>
                  <a:srgbClr val="64748B"/>
                </a:solidFill>
                <a:latin typeface="Calibri" panose="020F0502020204030204" pitchFamily="34" charset="0"/>
                <a:ea typeface="Calibri" panose="020F0502020204030204" pitchFamily="34" charset="-122"/>
                <a:cs typeface="Calibri" panose="020F0502020204030204" pitchFamily="34" charset="-120"/>
              </a:rPr>
              <a:t>enablement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356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A7D8E"/>
          </a:solidFill>
          <a:ln w="12700">
            <a:solidFill>
              <a:srgbClr val="2A7D8E"/>
            </a:solidFill>
            <a:prstDash val="solid"/>
          </a:ln>
        </p:spPr>
      </p:sp>
      <p:sp>
        <p:nvSpPr>
          <p:cNvPr id="3" name="Shape 1"/>
          <p:cNvSpPr/>
          <p:nvPr/>
        </p:nvSpPr>
        <p:spPr>
          <a:xfrm>
            <a:off x="274320" y="201168"/>
            <a:ext cx="457200" cy="256032"/>
          </a:xfrm>
          <a:prstGeom prst="rect">
            <a:avLst/>
          </a:prstGeom>
          <a:solidFill>
            <a:srgbClr val="FFFFFF"/>
          </a:solidFill>
          <a:ln w="12700">
            <a:solidFill>
              <a:srgbClr val="FFFFFF"/>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1B3560"/>
                </a:solidFill>
                <a:latin typeface="Calibri" panose="020F0502020204030204" pitchFamily="34" charset="0"/>
                <a:ea typeface="Calibri" panose="020F0502020204030204" pitchFamily="34" charset="-122"/>
                <a:cs typeface="Calibri" panose="020F0502020204030204" pitchFamily="34" charset="-120"/>
              </a:rPr>
              <a:t>04</a:t>
            </a:r>
            <a:endParaRPr lang="en-US" sz="1000" dirty="0"/>
          </a:p>
        </p:txBody>
      </p:sp>
      <p:sp>
        <p:nvSpPr>
          <p:cNvPr id="5" name="Text 3"/>
          <p:cNvSpPr/>
          <p:nvPr/>
        </p:nvSpPr>
        <p:spPr>
          <a:xfrm>
            <a:off x="868680" y="164592"/>
            <a:ext cx="5486400" cy="347472"/>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Solution</a:t>
            </a:r>
            <a:endParaRPr lang="en-US" sz="2200" dirty="0"/>
          </a:p>
        </p:txBody>
      </p:sp>
      <p:sp>
        <p:nvSpPr>
          <p:cNvPr id="6" name="Text 4"/>
          <p:cNvSpPr/>
          <p:nvPr/>
        </p:nvSpPr>
        <p:spPr>
          <a:xfrm>
            <a:off x="274320" y="621792"/>
            <a:ext cx="8595360" cy="411480"/>
          </a:xfrm>
          <a:prstGeom prst="rect">
            <a:avLst/>
          </a:prstGeom>
          <a:noFill/>
        </p:spPr>
        <p:txBody>
          <a:bodyPr wrap="square" lIns="0" tIns="0" rIns="0" bIns="0" rtlCol="0" anchor="ctr"/>
          <a:lstStyle/>
          <a:p>
            <a:pPr marL="0" indent="0">
              <a:buNone/>
            </a:pPr>
            <a:r>
              <a:rPr lang="en-US" sz="1200" dirty="0">
                <a:solidFill>
                  <a:srgbClr val="A8C4D8"/>
                </a:solidFill>
                <a:latin typeface="Calibri" panose="020F0502020204030204" pitchFamily="34" charset="0"/>
                <a:ea typeface="Calibri" panose="020F0502020204030204" pitchFamily="34" charset="-122"/>
                <a:cs typeface="Calibri" panose="020F0502020204030204" pitchFamily="34" charset="-120"/>
              </a:rPr>
              <a:t>A limited-access extension of the existing employee portal; giving alumni self-serve access to their documents for a configurable period after exit, with zero ongoing admin effort.</a:t>
            </a:r>
            <a:endParaRPr lang="en-US" sz="1200" dirty="0"/>
          </a:p>
        </p:txBody>
      </p:sp>
      <p:sp>
        <p:nvSpPr>
          <p:cNvPr id="7" name="Shape 5"/>
          <p:cNvSpPr/>
          <p:nvPr/>
        </p:nvSpPr>
        <p:spPr>
          <a:xfrm>
            <a:off x="274320" y="1170432"/>
            <a:ext cx="4160520" cy="3310128"/>
          </a:xfrm>
          <a:prstGeom prst="rect">
            <a:avLst/>
          </a:prstGeom>
          <a:solidFill>
            <a:srgbClr val="1E3A5F"/>
          </a:solidFill>
          <a:ln w="12700">
            <a:solidFill>
              <a:srgbClr val="2A7D8E"/>
            </a:solidFill>
            <a:prstDash val="solid"/>
          </a:ln>
        </p:spPr>
      </p:sp>
      <p:sp>
        <p:nvSpPr>
          <p:cNvPr id="8" name="Shape 6"/>
          <p:cNvSpPr/>
          <p:nvPr/>
        </p:nvSpPr>
        <p:spPr>
          <a:xfrm>
            <a:off x="274320" y="1170432"/>
            <a:ext cx="4160520" cy="45720"/>
          </a:xfrm>
          <a:prstGeom prst="rect">
            <a:avLst/>
          </a:prstGeom>
          <a:solidFill>
            <a:srgbClr val="2A7D8E"/>
          </a:solidFill>
          <a:ln w="12700">
            <a:solidFill>
              <a:srgbClr val="2A7D8E"/>
            </a:solidFill>
            <a:prstDash val="solid"/>
          </a:ln>
        </p:spPr>
      </p:sp>
      <p:pic>
        <p:nvPicPr>
          <p:cNvPr id="9" name="Image 0" descr="preencoded.png"/>
          <p:cNvPicPr>
            <a:picLocks noChangeAspect="1"/>
          </p:cNvPicPr>
          <p:nvPr/>
        </p:nvPicPr>
        <p:blipFill>
          <a:blip r:embed="rId1"/>
          <a:stretch>
            <a:fillRect/>
          </a:stretch>
        </p:blipFill>
        <p:spPr>
          <a:xfrm>
            <a:off x="438912" y="1298448"/>
            <a:ext cx="384048" cy="384048"/>
          </a:xfrm>
          <a:prstGeom prst="rect">
            <a:avLst/>
          </a:prstGeom>
        </p:spPr>
      </p:pic>
      <p:sp>
        <p:nvSpPr>
          <p:cNvPr id="10" name="Text 7"/>
          <p:cNvSpPr/>
          <p:nvPr/>
        </p:nvSpPr>
        <p:spPr>
          <a:xfrm>
            <a:off x="914400" y="1335024"/>
            <a:ext cx="3291840" cy="274320"/>
          </a:xfrm>
          <a:prstGeom prst="rect">
            <a:avLst/>
          </a:prstGeom>
          <a:noFill/>
        </p:spPr>
        <p:txBody>
          <a:bodyPr wrap="square" lIns="0" tIns="0" rIns="0" bIns="0" rtlCol="0" anchor="ctr"/>
          <a:lstStyle/>
          <a:p>
            <a:pPr marL="0" indent="0">
              <a:buNone/>
            </a:pPr>
            <a:r>
              <a:rPr lang="en-US" sz="1100" b="1" kern="0" spc="200" dirty="0">
                <a:solidFill>
                  <a:srgbClr val="2A7D8E"/>
                </a:solidFill>
                <a:latin typeface="Calibri" panose="020F0502020204030204" pitchFamily="34" charset="0"/>
                <a:ea typeface="Calibri" panose="020F0502020204030204" pitchFamily="34" charset="-122"/>
                <a:cs typeface="Calibri" panose="020F0502020204030204" pitchFamily="34" charset="-120"/>
              </a:rPr>
              <a:t>FOR THE ADMIN</a:t>
            </a:r>
            <a:endParaRPr lang="en-US" sz="1100" dirty="0"/>
          </a:p>
        </p:txBody>
      </p:sp>
      <p:sp>
        <p:nvSpPr>
          <p:cNvPr id="11" name="Shape 8"/>
          <p:cNvSpPr/>
          <p:nvPr/>
        </p:nvSpPr>
        <p:spPr>
          <a:xfrm>
            <a:off x="438912" y="1847088"/>
            <a:ext cx="310896" cy="310896"/>
          </a:xfrm>
          <a:prstGeom prst="ellipse">
            <a:avLst/>
          </a:prstGeom>
          <a:solidFill>
            <a:srgbClr val="2A7D8E"/>
          </a:solidFill>
          <a:ln w="12700">
            <a:solidFill>
              <a:srgbClr val="2A7D8E"/>
            </a:solidFill>
            <a:prstDash val="solid"/>
          </a:ln>
        </p:spPr>
      </p:sp>
      <p:sp>
        <p:nvSpPr>
          <p:cNvPr id="12" name="Text 9"/>
          <p:cNvSpPr/>
          <p:nvPr/>
        </p:nvSpPr>
        <p:spPr>
          <a:xfrm>
            <a:off x="438912" y="1847088"/>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13" name="Text 10"/>
          <p:cNvSpPr/>
          <p:nvPr/>
        </p:nvSpPr>
        <p:spPr>
          <a:xfrm>
            <a:off x="859536" y="1773936"/>
            <a:ext cx="3438144" cy="694944"/>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Enable Alumni Portal once from the admin settings: A single toggle for the entire organisation</a:t>
            </a:r>
            <a:endParaRPr lang="en-US" sz="1100" dirty="0"/>
          </a:p>
        </p:txBody>
      </p:sp>
      <p:sp>
        <p:nvSpPr>
          <p:cNvPr id="14" name="Shape 11"/>
          <p:cNvSpPr/>
          <p:nvPr/>
        </p:nvSpPr>
        <p:spPr>
          <a:xfrm>
            <a:off x="438912" y="2706624"/>
            <a:ext cx="310896" cy="310896"/>
          </a:xfrm>
          <a:prstGeom prst="ellipse">
            <a:avLst/>
          </a:prstGeom>
          <a:solidFill>
            <a:srgbClr val="2A7D8E"/>
          </a:solidFill>
          <a:ln w="12700">
            <a:solidFill>
              <a:srgbClr val="2A7D8E"/>
            </a:solidFill>
            <a:prstDash val="solid"/>
          </a:ln>
        </p:spPr>
      </p:sp>
      <p:sp>
        <p:nvSpPr>
          <p:cNvPr id="15" name="Text 12"/>
          <p:cNvSpPr/>
          <p:nvPr/>
        </p:nvSpPr>
        <p:spPr>
          <a:xfrm>
            <a:off x="438912" y="2706624"/>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6" name="Text 13"/>
          <p:cNvSpPr/>
          <p:nvPr/>
        </p:nvSpPr>
        <p:spPr>
          <a:xfrm>
            <a:off x="859536" y="2633472"/>
            <a:ext cx="3438144" cy="694944"/>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Set the access duration: How many months after exit the alumnus can access the portal</a:t>
            </a:r>
            <a:endParaRPr lang="en-US" sz="1100" dirty="0"/>
          </a:p>
        </p:txBody>
      </p:sp>
      <p:sp>
        <p:nvSpPr>
          <p:cNvPr id="17" name="Shape 14"/>
          <p:cNvSpPr/>
          <p:nvPr/>
        </p:nvSpPr>
        <p:spPr>
          <a:xfrm>
            <a:off x="438912" y="3566160"/>
            <a:ext cx="310896" cy="310896"/>
          </a:xfrm>
          <a:prstGeom prst="ellipse">
            <a:avLst/>
          </a:prstGeom>
          <a:solidFill>
            <a:srgbClr val="2A7D8E"/>
          </a:solidFill>
          <a:ln w="12700">
            <a:solidFill>
              <a:srgbClr val="2A7D8E"/>
            </a:solidFill>
            <a:prstDash val="solid"/>
          </a:ln>
        </p:spPr>
      </p:sp>
      <p:sp>
        <p:nvSpPr>
          <p:cNvPr id="18" name="Text 15"/>
          <p:cNvSpPr/>
          <p:nvPr/>
        </p:nvSpPr>
        <p:spPr>
          <a:xfrm>
            <a:off x="438912" y="3566160"/>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19" name="Text 16"/>
          <p:cNvSpPr/>
          <p:nvPr/>
        </p:nvSpPr>
        <p:spPr>
          <a:xfrm>
            <a:off x="859536" y="3493008"/>
            <a:ext cx="3438144" cy="694944"/>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Done. No further action required. The system handles access automatically for every exiting employee</a:t>
            </a:r>
            <a:endParaRPr lang="en-US" sz="1100" dirty="0"/>
          </a:p>
        </p:txBody>
      </p:sp>
      <p:sp>
        <p:nvSpPr>
          <p:cNvPr id="20" name="Shape 17"/>
          <p:cNvSpPr/>
          <p:nvPr/>
        </p:nvSpPr>
        <p:spPr>
          <a:xfrm>
            <a:off x="4681728" y="1170432"/>
            <a:ext cx="4169664" cy="3310128"/>
          </a:xfrm>
          <a:prstGeom prst="rect">
            <a:avLst/>
          </a:prstGeom>
          <a:solidFill>
            <a:srgbClr val="1E3A5F"/>
          </a:solidFill>
          <a:ln w="12700">
            <a:solidFill>
              <a:srgbClr val="D97706"/>
            </a:solidFill>
            <a:prstDash val="solid"/>
          </a:ln>
        </p:spPr>
      </p:sp>
      <p:sp>
        <p:nvSpPr>
          <p:cNvPr id="21" name="Shape 18"/>
          <p:cNvSpPr/>
          <p:nvPr/>
        </p:nvSpPr>
        <p:spPr>
          <a:xfrm>
            <a:off x="4681728" y="1170432"/>
            <a:ext cx="4169664" cy="45720"/>
          </a:xfrm>
          <a:prstGeom prst="rect">
            <a:avLst/>
          </a:prstGeom>
          <a:solidFill>
            <a:srgbClr val="D97706"/>
          </a:solidFill>
          <a:ln w="12700">
            <a:solidFill>
              <a:srgbClr val="D97706"/>
            </a:solidFill>
            <a:prstDash val="solid"/>
          </a:ln>
        </p:spPr>
      </p:sp>
      <p:pic>
        <p:nvPicPr>
          <p:cNvPr id="22" name="Image 1" descr="preencoded.png"/>
          <p:cNvPicPr>
            <a:picLocks noChangeAspect="1"/>
          </p:cNvPicPr>
          <p:nvPr/>
        </p:nvPicPr>
        <p:blipFill>
          <a:blip r:embed="rId2"/>
          <a:stretch>
            <a:fillRect/>
          </a:stretch>
        </p:blipFill>
        <p:spPr>
          <a:xfrm>
            <a:off x="4846320" y="1298448"/>
            <a:ext cx="384048" cy="384048"/>
          </a:xfrm>
          <a:prstGeom prst="rect">
            <a:avLst/>
          </a:prstGeom>
        </p:spPr>
      </p:pic>
      <p:sp>
        <p:nvSpPr>
          <p:cNvPr id="23" name="Text 19"/>
          <p:cNvSpPr/>
          <p:nvPr/>
        </p:nvSpPr>
        <p:spPr>
          <a:xfrm>
            <a:off x="5321808" y="1335024"/>
            <a:ext cx="3291840" cy="274320"/>
          </a:xfrm>
          <a:prstGeom prst="rect">
            <a:avLst/>
          </a:prstGeom>
          <a:noFill/>
        </p:spPr>
        <p:txBody>
          <a:bodyPr wrap="square" lIns="0" tIns="0" rIns="0" bIns="0" rtlCol="0" anchor="ctr"/>
          <a:lstStyle/>
          <a:p>
            <a:pPr marL="0" indent="0">
              <a:buNone/>
            </a:pPr>
            <a:r>
              <a:rPr lang="en-US" sz="1100" b="1" kern="0" spc="200" dirty="0">
                <a:solidFill>
                  <a:srgbClr val="D97706"/>
                </a:solidFill>
                <a:latin typeface="Calibri" panose="020F0502020204030204" pitchFamily="34" charset="0"/>
                <a:ea typeface="Calibri" panose="020F0502020204030204" pitchFamily="34" charset="-122"/>
                <a:cs typeface="Calibri" panose="020F0502020204030204" pitchFamily="34" charset="-120"/>
              </a:rPr>
              <a:t>FOR THE ALUMNUS</a:t>
            </a:r>
            <a:endParaRPr lang="en-US" sz="1100" dirty="0"/>
          </a:p>
        </p:txBody>
      </p:sp>
      <p:sp>
        <p:nvSpPr>
          <p:cNvPr id="24" name="Shape 20"/>
          <p:cNvSpPr/>
          <p:nvPr/>
        </p:nvSpPr>
        <p:spPr>
          <a:xfrm>
            <a:off x="4846320" y="1847088"/>
            <a:ext cx="310896" cy="310896"/>
          </a:xfrm>
          <a:prstGeom prst="ellipse">
            <a:avLst/>
          </a:prstGeom>
          <a:solidFill>
            <a:srgbClr val="D97706"/>
          </a:solidFill>
          <a:ln w="12700">
            <a:solidFill>
              <a:srgbClr val="D97706"/>
            </a:solidFill>
            <a:prstDash val="solid"/>
          </a:ln>
        </p:spPr>
      </p:sp>
      <p:sp>
        <p:nvSpPr>
          <p:cNvPr id="25" name="Text 21"/>
          <p:cNvSpPr/>
          <p:nvPr/>
        </p:nvSpPr>
        <p:spPr>
          <a:xfrm>
            <a:off x="4846320" y="1847088"/>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26" name="Text 22"/>
          <p:cNvSpPr/>
          <p:nvPr/>
        </p:nvSpPr>
        <p:spPr>
          <a:xfrm>
            <a:off x="5266944" y="1773936"/>
            <a:ext cx="3456432" cy="694944"/>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Receives continued access to their employee portal login after their exit date</a:t>
            </a:r>
            <a:endParaRPr lang="en-US" sz="1100" dirty="0"/>
          </a:p>
        </p:txBody>
      </p:sp>
      <p:sp>
        <p:nvSpPr>
          <p:cNvPr id="27" name="Shape 23"/>
          <p:cNvSpPr/>
          <p:nvPr/>
        </p:nvSpPr>
        <p:spPr>
          <a:xfrm>
            <a:off x="4846320" y="2706624"/>
            <a:ext cx="310896" cy="310896"/>
          </a:xfrm>
          <a:prstGeom prst="ellipse">
            <a:avLst/>
          </a:prstGeom>
          <a:solidFill>
            <a:srgbClr val="D97706"/>
          </a:solidFill>
          <a:ln w="12700">
            <a:solidFill>
              <a:srgbClr val="D97706"/>
            </a:solidFill>
            <a:prstDash val="solid"/>
          </a:ln>
        </p:spPr>
      </p:sp>
      <p:sp>
        <p:nvSpPr>
          <p:cNvPr id="28" name="Text 24"/>
          <p:cNvSpPr/>
          <p:nvPr/>
        </p:nvSpPr>
        <p:spPr>
          <a:xfrm>
            <a:off x="4846320" y="2706624"/>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29" name="Text 25"/>
          <p:cNvSpPr/>
          <p:nvPr/>
        </p:nvSpPr>
        <p:spPr>
          <a:xfrm>
            <a:off x="5266944" y="2633472"/>
            <a:ext cx="3456432" cy="694944"/>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Sees a limited view: Only their own documents, forms, and statutory records relevant to their tenure</a:t>
            </a:r>
            <a:endParaRPr lang="en-US" sz="1100" dirty="0"/>
          </a:p>
        </p:txBody>
      </p:sp>
      <p:sp>
        <p:nvSpPr>
          <p:cNvPr id="30" name="Shape 26"/>
          <p:cNvSpPr/>
          <p:nvPr/>
        </p:nvSpPr>
        <p:spPr>
          <a:xfrm>
            <a:off x="4846320" y="3566160"/>
            <a:ext cx="310896" cy="310896"/>
          </a:xfrm>
          <a:prstGeom prst="ellipse">
            <a:avLst/>
          </a:prstGeom>
          <a:solidFill>
            <a:srgbClr val="D97706"/>
          </a:solidFill>
          <a:ln w="12700">
            <a:solidFill>
              <a:srgbClr val="D97706"/>
            </a:solidFill>
            <a:prstDash val="solid"/>
          </a:ln>
        </p:spPr>
      </p:sp>
      <p:sp>
        <p:nvSpPr>
          <p:cNvPr id="31" name="Text 27"/>
          <p:cNvSpPr/>
          <p:nvPr/>
        </p:nvSpPr>
        <p:spPr>
          <a:xfrm>
            <a:off x="4846320" y="3566160"/>
            <a:ext cx="310896" cy="310896"/>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32" name="Text 28"/>
          <p:cNvSpPr/>
          <p:nvPr/>
        </p:nvSpPr>
        <p:spPr>
          <a:xfrm>
            <a:off x="5266944" y="3493008"/>
            <a:ext cx="3456432" cy="694944"/>
          </a:xfrm>
          <a:prstGeom prst="rect">
            <a:avLst/>
          </a:prstGeom>
          <a:noFill/>
        </p:spPr>
        <p:txBody>
          <a:bodyPr wrap="square" lIns="0" tIns="0" rIns="0" bIns="0" rtlCol="0" anchor="ctr"/>
          <a:lstStyle/>
          <a:p>
            <a:pPr marL="0" indent="0">
              <a:buNone/>
            </a:pPr>
            <a:r>
              <a:rPr lang="en-US" sz="1100" dirty="0">
                <a:solidFill>
                  <a:srgbClr val="B8D0E8"/>
                </a:solidFill>
                <a:latin typeface="Calibri" panose="020F0502020204030204" pitchFamily="34" charset="0"/>
                <a:ea typeface="Calibri" panose="020F0502020204030204" pitchFamily="34" charset="-122"/>
                <a:cs typeface="Calibri" panose="020F0502020204030204" pitchFamily="34" charset="-120"/>
              </a:rPr>
              <a:t>Downloads whatever they need, whenever they need it. No emails, no waiting, no chasing HR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B3560"/>
          </a:solidFill>
          <a:ln w="12700">
            <a:solidFill>
              <a:srgbClr val="1B3560"/>
            </a:solidFill>
            <a:prstDash val="solid"/>
          </a:ln>
        </p:spPr>
      </p:sp>
      <p:sp>
        <p:nvSpPr>
          <p:cNvPr id="3" name="Shape 1"/>
          <p:cNvSpPr/>
          <p:nvPr/>
        </p:nvSpPr>
        <p:spPr>
          <a:xfrm>
            <a:off x="274320" y="201168"/>
            <a:ext cx="457200" cy="256032"/>
          </a:xfrm>
          <a:prstGeom prst="rect">
            <a:avLst/>
          </a:prstGeom>
          <a:solidFill>
            <a:srgbClr val="2A7D8E"/>
          </a:solidFill>
          <a:ln w="12700">
            <a:solidFill>
              <a:srgbClr val="2A7D8E"/>
            </a:solidFill>
            <a:prstDash val="solid"/>
          </a:ln>
        </p:spPr>
      </p:sp>
      <p:sp>
        <p:nvSpPr>
          <p:cNvPr id="4" name="Text 2"/>
          <p:cNvSpPr/>
          <p:nvPr/>
        </p:nvSpPr>
        <p:spPr>
          <a:xfrm>
            <a:off x="274320" y="201168"/>
            <a:ext cx="457200" cy="256032"/>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
        <p:nvSpPr>
          <p:cNvPr id="5" name="Text 3"/>
          <p:cNvSpPr/>
          <p:nvPr/>
        </p:nvSpPr>
        <p:spPr>
          <a:xfrm>
            <a:off x="868680" y="164592"/>
            <a:ext cx="6400800" cy="347472"/>
          </a:xfrm>
          <a:prstGeom prst="rect">
            <a:avLst/>
          </a:prstGeom>
          <a:noFill/>
        </p:spPr>
        <p:txBody>
          <a:bodyPr wrap="square" lIns="0" tIns="0" rIns="0" bIns="0" rtlCol="0" anchor="ctr"/>
          <a:lstStyle/>
          <a:p>
            <a:pPr marL="0" indent="0">
              <a:buNone/>
            </a:pPr>
            <a:r>
              <a:rPr lang="en-US" sz="2200" b="1" dirty="0">
                <a:solidFill>
                  <a:srgbClr val="1B3560"/>
                </a:solidFill>
                <a:latin typeface="Calibri" panose="020F0502020204030204" pitchFamily="34" charset="0"/>
                <a:ea typeface="Calibri" panose="020F0502020204030204" pitchFamily="34" charset="-122"/>
                <a:cs typeface="Calibri" panose="020F0502020204030204" pitchFamily="34" charset="-120"/>
              </a:rPr>
              <a:t>Outcome &amp; Learnings</a:t>
            </a:r>
            <a:endParaRPr lang="en-US" sz="2200" dirty="0"/>
          </a:p>
        </p:txBody>
      </p:sp>
      <p:sp>
        <p:nvSpPr>
          <p:cNvPr id="6" name="Shape 4"/>
          <p:cNvSpPr/>
          <p:nvPr/>
        </p:nvSpPr>
        <p:spPr>
          <a:xfrm>
            <a:off x="274320" y="658368"/>
            <a:ext cx="2697480" cy="1874520"/>
          </a:xfrm>
          <a:prstGeom prst="rect">
            <a:avLst/>
          </a:prstGeom>
          <a:solidFill>
            <a:srgbClr val="1B3560"/>
          </a:solidFill>
          <a:ln w="12700">
            <a:solidFill>
              <a:srgbClr val="1B3560"/>
            </a:solidFill>
            <a:prstDash val="solid"/>
          </a:ln>
        </p:spPr>
      </p:sp>
      <p:pic>
        <p:nvPicPr>
          <p:cNvPr id="7" name="Image 0" descr="preencoded.png"/>
          <p:cNvPicPr>
            <a:picLocks noChangeAspect="1"/>
          </p:cNvPicPr>
          <p:nvPr/>
        </p:nvPicPr>
        <p:blipFill>
          <a:blip r:embed="rId1"/>
          <a:stretch>
            <a:fillRect/>
          </a:stretch>
        </p:blipFill>
        <p:spPr>
          <a:xfrm>
            <a:off x="457200" y="768096"/>
            <a:ext cx="438912" cy="438912"/>
          </a:xfrm>
          <a:prstGeom prst="rect">
            <a:avLst/>
          </a:prstGeom>
        </p:spPr>
      </p:pic>
      <p:sp>
        <p:nvSpPr>
          <p:cNvPr id="8" name="Text 5"/>
          <p:cNvSpPr/>
          <p:nvPr/>
        </p:nvSpPr>
        <p:spPr>
          <a:xfrm>
            <a:off x="274320" y="1261872"/>
            <a:ext cx="2697480" cy="685800"/>
          </a:xfrm>
          <a:prstGeom prst="rect">
            <a:avLst/>
          </a:prstGeom>
          <a:noFill/>
        </p:spPr>
        <p:txBody>
          <a:bodyPr wrap="square" lIns="0" tIns="0" rIns="0" bIns="0" rtlCol="0" anchor="ctr"/>
          <a:lstStyle/>
          <a:p>
            <a:pPr marL="0" indent="0" algn="ctr">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150+</a:t>
            </a:r>
            <a:endParaRPr lang="en-US" sz="4400" dirty="0"/>
          </a:p>
        </p:txBody>
      </p:sp>
      <p:sp>
        <p:nvSpPr>
          <p:cNvPr id="9" name="Text 6"/>
          <p:cNvSpPr/>
          <p:nvPr/>
        </p:nvSpPr>
        <p:spPr>
          <a:xfrm>
            <a:off x="274320" y="1993392"/>
            <a:ext cx="2697480" cy="420624"/>
          </a:xfrm>
          <a:prstGeom prst="rect">
            <a:avLst/>
          </a:prstGeom>
          <a:noFill/>
        </p:spPr>
        <p:txBody>
          <a:bodyPr wrap="square" lIns="0" tIns="0" rIns="0" bIns="0" rtlCol="0" anchor="ctr"/>
          <a:lstStyle/>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Customers activated</a:t>
            </a:r>
            <a:endParaRPr lang="en-US" sz="1050" dirty="0"/>
          </a:p>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within 6 months</a:t>
            </a:r>
            <a:endParaRPr lang="en-US" sz="1050" dirty="0"/>
          </a:p>
        </p:txBody>
      </p:sp>
      <p:sp>
        <p:nvSpPr>
          <p:cNvPr id="10" name="Shape 7"/>
          <p:cNvSpPr/>
          <p:nvPr/>
        </p:nvSpPr>
        <p:spPr>
          <a:xfrm>
            <a:off x="3200400" y="658368"/>
            <a:ext cx="2697480" cy="1874520"/>
          </a:xfrm>
          <a:prstGeom prst="rect">
            <a:avLst/>
          </a:prstGeom>
          <a:solidFill>
            <a:srgbClr val="2A7D8E"/>
          </a:solidFill>
          <a:ln w="12700">
            <a:solidFill>
              <a:srgbClr val="2A7D8E"/>
            </a:solidFill>
            <a:prstDash val="solid"/>
          </a:ln>
        </p:spPr>
      </p:sp>
      <p:pic>
        <p:nvPicPr>
          <p:cNvPr id="11" name="Image 1" descr="preencoded.png"/>
          <p:cNvPicPr>
            <a:picLocks noChangeAspect="1"/>
          </p:cNvPicPr>
          <p:nvPr/>
        </p:nvPicPr>
        <p:blipFill>
          <a:blip r:embed="rId2"/>
          <a:stretch>
            <a:fillRect/>
          </a:stretch>
        </p:blipFill>
        <p:spPr>
          <a:xfrm>
            <a:off x="3383280" y="768096"/>
            <a:ext cx="438912" cy="438912"/>
          </a:xfrm>
          <a:prstGeom prst="rect">
            <a:avLst/>
          </a:prstGeom>
        </p:spPr>
      </p:pic>
      <p:sp>
        <p:nvSpPr>
          <p:cNvPr id="12" name="Text 8"/>
          <p:cNvSpPr/>
          <p:nvPr/>
        </p:nvSpPr>
        <p:spPr>
          <a:xfrm>
            <a:off x="3200400" y="1261872"/>
            <a:ext cx="2697480" cy="685800"/>
          </a:xfrm>
          <a:prstGeom prst="rect">
            <a:avLst/>
          </a:prstGeom>
          <a:noFill/>
        </p:spPr>
        <p:txBody>
          <a:bodyPr wrap="square" lIns="0" tIns="0" rIns="0" bIns="0" rtlCol="0" anchor="ctr"/>
          <a:lstStyle/>
          <a:p>
            <a:pPr marL="0" indent="0" algn="ctr">
              <a:buNone/>
            </a:pPr>
            <a:r>
              <a:rPr lang="en-US" sz="38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1000+</a:t>
            </a:r>
            <a:endParaRPr lang="en-US" sz="3800" dirty="0"/>
          </a:p>
        </p:txBody>
      </p:sp>
      <p:sp>
        <p:nvSpPr>
          <p:cNvPr id="13" name="Text 9"/>
          <p:cNvSpPr/>
          <p:nvPr/>
        </p:nvSpPr>
        <p:spPr>
          <a:xfrm>
            <a:off x="3200400" y="1993392"/>
            <a:ext cx="2697480" cy="420624"/>
          </a:xfrm>
          <a:prstGeom prst="rect">
            <a:avLst/>
          </a:prstGeom>
          <a:noFill/>
        </p:spPr>
        <p:txBody>
          <a:bodyPr wrap="square" lIns="0" tIns="0" rIns="0" bIns="0" rtlCol="0" anchor="ctr"/>
          <a:lstStyle/>
          <a:p>
            <a:pPr marL="0" indent="0" algn="ctr">
              <a:buNone/>
            </a:pPr>
            <a:r>
              <a:rPr lang="en-US" sz="1050" dirty="0">
                <a:solidFill>
                  <a:srgbClr val="D0F0F5"/>
                </a:solidFill>
                <a:latin typeface="Calibri" panose="020F0502020204030204" pitchFamily="34" charset="0"/>
                <a:ea typeface="Calibri" panose="020F0502020204030204" pitchFamily="34" charset="-122"/>
                <a:cs typeface="Calibri" panose="020F0502020204030204" pitchFamily="34" charset="-120"/>
              </a:rPr>
              <a:t>Alumni accessed</a:t>
            </a:r>
            <a:endParaRPr lang="en-US" sz="1050" dirty="0"/>
          </a:p>
          <a:p>
            <a:pPr marL="0" indent="0" algn="ctr">
              <a:buNone/>
            </a:pPr>
            <a:r>
              <a:rPr lang="en-US" sz="1050" dirty="0">
                <a:solidFill>
                  <a:srgbClr val="D0F0F5"/>
                </a:solidFill>
                <a:latin typeface="Calibri" panose="020F0502020204030204" pitchFamily="34" charset="0"/>
                <a:ea typeface="Calibri" panose="020F0502020204030204" pitchFamily="34" charset="-122"/>
                <a:cs typeface="Calibri" panose="020F0502020204030204" pitchFamily="34" charset="-120"/>
              </a:rPr>
              <a:t>the portal</a:t>
            </a:r>
            <a:endParaRPr lang="en-US" sz="1050" dirty="0"/>
          </a:p>
        </p:txBody>
      </p:sp>
      <p:sp>
        <p:nvSpPr>
          <p:cNvPr id="14" name="Shape 10"/>
          <p:cNvSpPr/>
          <p:nvPr/>
        </p:nvSpPr>
        <p:spPr>
          <a:xfrm>
            <a:off x="6126480" y="658368"/>
            <a:ext cx="2697480" cy="1874520"/>
          </a:xfrm>
          <a:prstGeom prst="rect">
            <a:avLst/>
          </a:prstGeom>
          <a:solidFill>
            <a:srgbClr val="1B3560"/>
          </a:solidFill>
          <a:ln w="12700">
            <a:solidFill>
              <a:srgbClr val="1B3560"/>
            </a:solidFill>
            <a:prstDash val="solid"/>
          </a:ln>
        </p:spPr>
      </p:sp>
      <p:pic>
        <p:nvPicPr>
          <p:cNvPr id="15" name="Image 2" descr="preencoded.png"/>
          <p:cNvPicPr>
            <a:picLocks noChangeAspect="1"/>
          </p:cNvPicPr>
          <p:nvPr/>
        </p:nvPicPr>
        <p:blipFill>
          <a:blip r:embed="rId3"/>
          <a:stretch>
            <a:fillRect/>
          </a:stretch>
        </p:blipFill>
        <p:spPr>
          <a:xfrm>
            <a:off x="6309360" y="768096"/>
            <a:ext cx="438912" cy="438912"/>
          </a:xfrm>
          <a:prstGeom prst="rect">
            <a:avLst/>
          </a:prstGeom>
        </p:spPr>
      </p:pic>
      <p:sp>
        <p:nvSpPr>
          <p:cNvPr id="16" name="Text 11"/>
          <p:cNvSpPr/>
          <p:nvPr/>
        </p:nvSpPr>
        <p:spPr>
          <a:xfrm>
            <a:off x="6126480" y="1261872"/>
            <a:ext cx="2697480" cy="685800"/>
          </a:xfrm>
          <a:prstGeom prst="rect">
            <a:avLst/>
          </a:prstGeom>
          <a:noFill/>
        </p:spPr>
        <p:txBody>
          <a:bodyPr wrap="square" lIns="0" tIns="0" rIns="0" bIns="0" rtlCol="0" anchor="ctr"/>
          <a:lstStyle/>
          <a:p>
            <a:pPr marL="0" indent="0" algn="ctr">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1x</a:t>
            </a:r>
            <a:endParaRPr lang="en-US" sz="4400" dirty="0"/>
          </a:p>
        </p:txBody>
      </p:sp>
      <p:sp>
        <p:nvSpPr>
          <p:cNvPr id="17" name="Text 12"/>
          <p:cNvSpPr/>
          <p:nvPr/>
        </p:nvSpPr>
        <p:spPr>
          <a:xfrm>
            <a:off x="6126480" y="1993392"/>
            <a:ext cx="2697480" cy="420624"/>
          </a:xfrm>
          <a:prstGeom prst="rect">
            <a:avLst/>
          </a:prstGeom>
          <a:noFill/>
        </p:spPr>
        <p:txBody>
          <a:bodyPr wrap="square" lIns="0" tIns="0" rIns="0" bIns="0" rtlCol="0" anchor="ctr"/>
          <a:lstStyle/>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Admin setup needed</a:t>
            </a:r>
            <a:endParaRPr lang="en-US" sz="1050" dirty="0"/>
          </a:p>
          <a:p>
            <a:pPr marL="0" indent="0" algn="ctr">
              <a:buNone/>
            </a:pPr>
            <a:r>
              <a:rPr lang="en-US" sz="1050" dirty="0">
                <a:solidFill>
                  <a:srgbClr val="A8C4D8"/>
                </a:solidFill>
                <a:latin typeface="Calibri" panose="020F0502020204030204" pitchFamily="34" charset="0"/>
                <a:ea typeface="Calibri" panose="020F0502020204030204" pitchFamily="34" charset="-122"/>
                <a:cs typeface="Calibri" panose="020F0502020204030204" pitchFamily="34" charset="-120"/>
              </a:rPr>
              <a:t>for all alumni</a:t>
            </a:r>
            <a:endParaRPr lang="en-US" sz="1050" dirty="0"/>
          </a:p>
        </p:txBody>
      </p:sp>
      <p:sp>
        <p:nvSpPr>
          <p:cNvPr id="18" name="Shape 13"/>
          <p:cNvSpPr/>
          <p:nvPr/>
        </p:nvSpPr>
        <p:spPr>
          <a:xfrm>
            <a:off x="274320" y="2688336"/>
            <a:ext cx="8595360" cy="512064"/>
          </a:xfrm>
          <a:prstGeom prst="rect">
            <a:avLst/>
          </a:prstGeom>
          <a:solidFill>
            <a:srgbClr val="E6F4F6"/>
          </a:solidFill>
          <a:ln w="12700">
            <a:solidFill>
              <a:srgbClr val="2A7D8E"/>
            </a:solidFill>
            <a:prstDash val="solid"/>
          </a:ln>
        </p:spPr>
      </p:sp>
      <p:pic>
        <p:nvPicPr>
          <p:cNvPr id="19" name="Image 3" descr="preencoded.png"/>
          <p:cNvPicPr>
            <a:picLocks noChangeAspect="1"/>
          </p:cNvPicPr>
          <p:nvPr/>
        </p:nvPicPr>
        <p:blipFill>
          <a:blip r:embed="rId4"/>
          <a:stretch>
            <a:fillRect/>
          </a:stretch>
        </p:blipFill>
        <p:spPr>
          <a:xfrm>
            <a:off x="365760" y="2743200"/>
            <a:ext cx="310896" cy="310896"/>
          </a:xfrm>
          <a:prstGeom prst="rect">
            <a:avLst/>
          </a:prstGeom>
        </p:spPr>
      </p:pic>
      <p:sp>
        <p:nvSpPr>
          <p:cNvPr id="20" name="Text 14"/>
          <p:cNvSpPr/>
          <p:nvPr/>
        </p:nvSpPr>
        <p:spPr>
          <a:xfrm>
            <a:off x="768096" y="2743200"/>
            <a:ext cx="8001000" cy="402336"/>
          </a:xfrm>
          <a:prstGeom prst="rect">
            <a:avLst/>
          </a:prstGeom>
          <a:noFill/>
        </p:spPr>
        <p:txBody>
          <a:bodyPr wrap="square" lIns="0" tIns="0" rIns="0" bIns="0" rtlCol="0" anchor="ctr"/>
          <a:lstStyle/>
          <a:p>
            <a:pPr marL="0" indent="0">
              <a:buNone/>
            </a:pPr>
            <a:r>
              <a:rPr lang="en-US" sz="1050" dirty="0">
                <a:solidFill>
                  <a:srgbClr val="1B3560"/>
                </a:solidFill>
                <a:latin typeface="Calibri" panose="020F0502020204030204" pitchFamily="34" charset="0"/>
                <a:ea typeface="Calibri" panose="020F0502020204030204" pitchFamily="34" charset="-122"/>
                <a:cs typeface="Calibri" panose="020F0502020204030204" pitchFamily="34" charset="-120"/>
              </a:rPr>
              <a:t>Adoption was strongest in medium to large business units where alumni volume justified the add-on. 150+ customers activated the portal within 6 months of release, with 1,000+ alumni independently accessing their documents; removing that overhead from HR entirely.</a:t>
            </a:r>
            <a:endParaRPr lang="en-US" sz="1050" dirty="0"/>
          </a:p>
        </p:txBody>
      </p:sp>
      <p:sp>
        <p:nvSpPr>
          <p:cNvPr id="21" name="Text 15"/>
          <p:cNvSpPr/>
          <p:nvPr/>
        </p:nvSpPr>
        <p:spPr>
          <a:xfrm>
            <a:off x="274320" y="3328416"/>
            <a:ext cx="2286000" cy="256032"/>
          </a:xfrm>
          <a:prstGeom prst="rect">
            <a:avLst/>
          </a:prstGeom>
          <a:noFill/>
        </p:spPr>
        <p:txBody>
          <a:bodyPr wrap="square" lIns="0" tIns="0" rIns="0" bIns="0" rtlCol="0" anchor="ctr"/>
          <a:lstStyle/>
          <a:p>
            <a:pPr marL="0" indent="0">
              <a:buNone/>
            </a:pPr>
            <a:r>
              <a:rPr lang="en-US" sz="1000" b="1" kern="0" spc="300" dirty="0">
                <a:solidFill>
                  <a:srgbClr val="1B3560"/>
                </a:solidFill>
                <a:latin typeface="Calibri" panose="020F0502020204030204" pitchFamily="34" charset="0"/>
                <a:ea typeface="Calibri" panose="020F0502020204030204" pitchFamily="34" charset="-122"/>
                <a:cs typeface="Calibri" panose="020F0502020204030204" pitchFamily="34" charset="-120"/>
              </a:rPr>
              <a:t>LEARNINGS</a:t>
            </a:r>
            <a:endParaRPr lang="en-US" sz="1000" dirty="0"/>
          </a:p>
        </p:txBody>
      </p:sp>
      <p:pic>
        <p:nvPicPr>
          <p:cNvPr id="22" name="Image 4" descr="preencoded.png"/>
          <p:cNvPicPr>
            <a:picLocks noChangeAspect="1"/>
          </p:cNvPicPr>
          <p:nvPr/>
        </p:nvPicPr>
        <p:blipFill>
          <a:blip r:embed="rId5"/>
          <a:stretch>
            <a:fillRect/>
          </a:stretch>
        </p:blipFill>
        <p:spPr>
          <a:xfrm>
            <a:off x="274320" y="3712464"/>
            <a:ext cx="237744" cy="237744"/>
          </a:xfrm>
          <a:prstGeom prst="rect">
            <a:avLst/>
          </a:prstGeom>
        </p:spPr>
      </p:pic>
      <p:sp>
        <p:nvSpPr>
          <p:cNvPr id="23" name="Text 16"/>
          <p:cNvSpPr/>
          <p:nvPr/>
        </p:nvSpPr>
        <p:spPr>
          <a:xfrm>
            <a:off x="603504" y="3675888"/>
            <a:ext cx="8339328" cy="365760"/>
          </a:xfrm>
          <a:prstGeom prst="rect">
            <a:avLst/>
          </a:prstGeom>
          <a:noFill/>
        </p:spPr>
        <p:txBody>
          <a:bodyPr wrap="square" lIns="0" tIns="0" rIns="0" bIns="0"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The best product insights sometimes come from inside the building. Internal stakeholders who live with the product daily can surface pain points that no support ticket ever captures</a:t>
            </a:r>
            <a:endParaRPr lang="en-US" sz="1100" dirty="0"/>
          </a:p>
        </p:txBody>
      </p:sp>
      <p:pic>
        <p:nvPicPr>
          <p:cNvPr id="24" name="Image 5" descr="preencoded.png"/>
          <p:cNvPicPr>
            <a:picLocks noChangeAspect="1"/>
          </p:cNvPicPr>
          <p:nvPr/>
        </p:nvPicPr>
        <p:blipFill>
          <a:blip r:embed="rId5"/>
          <a:stretch>
            <a:fillRect/>
          </a:stretch>
        </p:blipFill>
        <p:spPr>
          <a:xfrm>
            <a:off x="274320" y="4133088"/>
            <a:ext cx="237744" cy="237744"/>
          </a:xfrm>
          <a:prstGeom prst="rect">
            <a:avLst/>
          </a:prstGeom>
        </p:spPr>
      </p:pic>
      <p:sp>
        <p:nvSpPr>
          <p:cNvPr id="25" name="Text 17"/>
          <p:cNvSpPr/>
          <p:nvPr/>
        </p:nvSpPr>
        <p:spPr>
          <a:xfrm>
            <a:off x="603504" y="4096512"/>
            <a:ext cx="8339328" cy="365760"/>
          </a:xfrm>
          <a:prstGeom prst="rect">
            <a:avLst/>
          </a:prstGeom>
          <a:noFill/>
        </p:spPr>
        <p:txBody>
          <a:bodyPr wrap="square" lIns="0" tIns="0" rIns="0" bIns="0"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Extending an existing product is often better than building new and reusing the employee portal reduced engineering effort and gave alumni a familiar interface from day one</a:t>
            </a:r>
            <a:endParaRPr lang="en-US" sz="1100" dirty="0"/>
          </a:p>
        </p:txBody>
      </p:sp>
      <p:pic>
        <p:nvPicPr>
          <p:cNvPr id="26" name="Image 6" descr="preencoded.png"/>
          <p:cNvPicPr>
            <a:picLocks noChangeAspect="1"/>
          </p:cNvPicPr>
          <p:nvPr/>
        </p:nvPicPr>
        <p:blipFill>
          <a:blip r:embed="rId5"/>
          <a:stretch>
            <a:fillRect/>
          </a:stretch>
        </p:blipFill>
        <p:spPr>
          <a:xfrm>
            <a:off x="274320" y="4553712"/>
            <a:ext cx="237744" cy="237744"/>
          </a:xfrm>
          <a:prstGeom prst="rect">
            <a:avLst/>
          </a:prstGeom>
        </p:spPr>
      </p:pic>
      <p:sp>
        <p:nvSpPr>
          <p:cNvPr id="27" name="Text 18"/>
          <p:cNvSpPr/>
          <p:nvPr/>
        </p:nvSpPr>
        <p:spPr>
          <a:xfrm>
            <a:off x="603504" y="4517136"/>
            <a:ext cx="8339328" cy="365760"/>
          </a:xfrm>
          <a:prstGeom prst="rect">
            <a:avLst/>
          </a:prstGeom>
          <a:noFill/>
        </p:spPr>
        <p:txBody>
          <a:bodyPr wrap="square" lIns="0" tIns="0" rIns="0" bIns="0"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Pricing for the right segment unlocked the adoption, positioning the portal as a consumption-based add-on for medium to large organisations matched the problem to the customers most likely to feel it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4267</Words>
  <Application>WPS Presentation</Application>
  <PresentationFormat>On-screen Show (16:9)</PresentationFormat>
  <Paragraphs>176</Paragraphs>
  <Slides>5</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Alumni Portal — Product Case Study</dc:title>
  <dc:creator>PptxGenJS</dc:creator>
  <dc:subject>PptxGenJS Presentation</dc:subject>
  <cp:lastModifiedBy>devayani bhosale</cp:lastModifiedBy>
  <cp:revision>2</cp:revision>
  <dcterms:created xsi:type="dcterms:W3CDTF">2026-04-02T16:55:00Z</dcterms:created>
  <dcterms:modified xsi:type="dcterms:W3CDTF">2026-04-02T17:07:43Z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D8B4B940B0DA46A1B1B26990C03008FD_12</vt:lpwstr>
  </property>
  <property fmtid="{D5CDD505-2E9C-101B-9397-08002B2CF9AE}" pid="3" name="KSOProductBuildVer">
    <vt:lpwstr>1033-12.1.0.25830</vt:lpwstr>
  </property>
</Properties>
</file>